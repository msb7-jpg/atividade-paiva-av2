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5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x="18288000" cy="10287000"/>
  <p:notesSz cx="6858000" cy="9144000"/>
  <p:embeddedFontLst>
    <p:embeddedFont>
      <p:font typeface="Open Sans 1 Bold" charset="1" panose="020B0806030504020204"/>
      <p:regular r:id="rId52"/>
    </p:embeddedFont>
    <p:embeddedFont>
      <p:font typeface="Open Sans 1 Italics" charset="1" panose="020B0606030504020204"/>
      <p:regular r:id="rId53"/>
    </p:embeddedFont>
    <p:embeddedFont>
      <p:font typeface="Open Sans 1" charset="1" panose="020B0606030504020204"/>
      <p:regular r:id="rId54"/>
    </p:embeddedFont>
    <p:embeddedFont>
      <p:font typeface="Arimo Bold" charset="1" panose="020B0704020202020204"/>
      <p:regular r:id="rId58"/>
    </p:embeddedFont>
    <p:embeddedFont>
      <p:font typeface="Arimo" charset="1" panose="020B0604020202020204"/>
      <p:regular r:id="rId59"/>
    </p:embeddedFont>
    <p:embeddedFont>
      <p:font typeface="Open Sans 2 Bold" charset="1" panose="00000000000000000000"/>
      <p:regular r:id="rId60"/>
    </p:embeddedFont>
    <p:embeddedFont>
      <p:font typeface="Open Sans 2" charset="1" panose="00000000000000000000"/>
      <p:regular r:id="rId61"/>
    </p:embeddedFont>
    <p:embeddedFont>
      <p:font typeface="Calibri (MS) Bold" charset="1" panose="020F0702030404030204"/>
      <p:regular r:id="rId62"/>
    </p:embeddedFont>
    <p:embeddedFont>
      <p:font typeface="Calibri (MS)" charset="1" panose="020F0502020204030204"/>
      <p:regular r:id="rId63"/>
    </p:embeddedFont>
    <p:embeddedFont>
      <p:font typeface="Open Sans 2 Italics" charset="1" panose="00000000000000000000"/>
      <p:regular r:id="rId64"/>
    </p:embeddedFont>
    <p:embeddedFont>
      <p:font typeface="Open Sans 2 Bold Italics" charset="1" panose="00000000000000000000"/>
      <p:regular r:id="rId6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font" Target="fonts/font52.fntdata"/><Relationship Id="rId53" Type="http://schemas.openxmlformats.org/officeDocument/2006/relationships/font" Target="fonts/font53.fntdata"/><Relationship Id="rId54" Type="http://schemas.openxmlformats.org/officeDocument/2006/relationships/font" Target="fonts/font54.fntdata"/><Relationship Id="rId55" Type="http://schemas.openxmlformats.org/officeDocument/2006/relationships/notesMaster" Target="notesMasters/notesMaster1.xml"/><Relationship Id="rId56" Type="http://schemas.openxmlformats.org/officeDocument/2006/relationships/theme" Target="theme/theme2.xml"/><Relationship Id="rId57" Type="http://schemas.openxmlformats.org/officeDocument/2006/relationships/notesSlide" Target="notesSlides/notesSlide1.xml"/><Relationship Id="rId58" Type="http://schemas.openxmlformats.org/officeDocument/2006/relationships/font" Target="fonts/font58.fntdata"/><Relationship Id="rId59" Type="http://schemas.openxmlformats.org/officeDocument/2006/relationships/font" Target="fonts/font59.fntdata"/><Relationship Id="rId60" Type="http://schemas.openxmlformats.org/officeDocument/2006/relationships/font" Target="fonts/font60.fntdata"/><Relationship Id="rId61" Type="http://schemas.openxmlformats.org/officeDocument/2006/relationships/font" Target="fonts/font61.fntdata"/><Relationship Id="rId62" Type="http://schemas.openxmlformats.org/officeDocument/2006/relationships/font" Target="fonts/font62.fntdata"/><Relationship Id="rId63" Type="http://schemas.openxmlformats.org/officeDocument/2006/relationships/font" Target="fonts/font63.fntdata"/><Relationship Id="rId64" Type="http://schemas.openxmlformats.org/officeDocument/2006/relationships/font" Target="fonts/font64.fntdata"/><Relationship Id="rId65" Type="http://schemas.openxmlformats.org/officeDocument/2006/relationships/font" Target="fonts/font6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[ABERTURA, retomando o slide anterior] O projeto foi organizado de maneira modular, com cada arquivo responsável por uma etapa específica. O Makefile e a CLI coordenam a execução. O preparation realiza o pré-processamento das imagens, o experiment faz o treinamento e a avaliação dos modelos, e o analysis compara os resultados. Além disso, temos o Grad-CAM, que realiza uma análise visual das regiões utilizadas pelos modelos para fazer suas previsões.</a:t>
            </a:r>
          </a:p>
          <a:p>
            <a:r>
              <a:rPr lang="en-US"/>
              <a:t/>
            </a:r>
          </a:p>
          <a:p>
            <a:r>
              <a:rPr lang="en-US"/>
              <a:t>[TÍTULO] Neste slide eu detalho a primeira peça desse fluxo: a camada de entrada, formada pelo Makefile e pelo cli.py. O Makefile define o que rodar e em que ordem. A CLI traduz o comando digitado em chamada de função.</a:t>
            </a:r>
          </a:p>
          <a:p>
            <a:r>
              <a:rPr lang="en-US"/>
              <a:t/>
            </a:r>
          </a:p>
          <a:p>
            <a:r>
              <a:rPr lang="en-US"/>
              <a:t>[ENTRADAS, ponto no bullet e na caixa "Entradas"] Olhando o fluxograma, tudo começa na caixa Entradas. Entram duas coisas: o comando digitado no terminal, normalmente make all, e o arquivo protocol.json, que guarda a configuração do experimento. Os caminhos de entrada e saída não são digitados por quem usa: quem passa esses caminhos para a CLI é o Makefile.</a:t>
            </a:r>
          </a:p>
          <a:p>
            <a:r>
              <a:rPr lang="en-US"/>
              <a:t/>
            </a:r>
          </a:p>
          <a:p>
            <a:r>
              <a:rPr lang="en-US"/>
              <a:t>[MAKEFILE, ponto no bullet "Makefile"] O Makefile funciona como um atalho. Em vez de digitar o comando completo da aplicação, com todas as opções e caminhos, eu digito apenas o nome da etapa: make prepare, make experiment ou make analyze. Os caminhos ficam escritos uma única vez dentro do Makefile, então o comando fica curto, não tem erro de digitação e todas as etapas usam as mesmas pastas. E o make all executa as três etapas na ordem certa; se uma delas falhar, ele para ali. Vale dizer que o Makefile não é obrigatório: é só a conveniência. Quem de fato recebe e valida os argumentos é a CLI.</a:t>
            </a:r>
          </a:p>
          <a:p>
            <a:r>
              <a:rPr lang="en-US"/>
              <a:t/>
            </a:r>
          </a:p>
          <a:p>
            <a:r>
              <a:rPr lang="en-US"/>
              <a:t>[_parser() E main(), ponto no bullet e na caixa main()] Agora a CLI. A função _parser(), que aparece acima da caixa main(), usa a biblioteca argparse do Python para criar os três subcomandos: prepare, experiment e analyze, cada um com suas opções. E o main() lê o que foi digitado e chama a função certa para aquele subcomando. Ele não precisa de uma cadeia de if/else: cada subcomando já sai do _parser() associado à sua função.</a:t>
            </a:r>
          </a:p>
          <a:p>
            <a:r>
              <a:rPr lang="en-US"/>
              <a:t/>
            </a:r>
          </a:p>
          <a:p>
            <a:r>
              <a:rPr lang="en-US"/>
              <a:t>[HANDLERS, ponto no bullet e na caixa Handlers] A caixa Handlers reúne as três funções listadas ao lado: _prepare, _experiment e _analyze. Elas fazem três coisas. Primeiro, só carregam o módulo da etapa na hora em que são chamadas, para que a CLI abra rápido, sem carregar o TensorFlow à toa. Segundo, chamam o módulo, que é a última caixa do fluxograma: preparation, experiment e analysis. Ou seja, elas só orquestram, delegam o trabalho. Terceiro, tratam erro: se algo falha, mostram uma mensagem clara no stderr e encerram com código 2, e é esse código que faz o make parar.</a:t>
            </a:r>
          </a:p>
          <a:p>
            <a:r>
              <a:rPr lang="en-US"/>
              <a:t/>
            </a:r>
          </a:p>
          <a:p>
            <a:r>
              <a:rPr lang="en-US"/>
              <a:t>[SAÍDAS, ponto no bullet e na caixa Saídas] No fim, seguindo a seta para a caixa Saídas: a CLI não produz dados, ela só dispara as etapas. O que fica gravado são as imagens segmentadas, um arquivo result.json para cada seed e o summary.json com o resumo. E, no terminal, a CLI imprime as médias, as diferenças entre os dois cenários e o resultado do teste t pareado. O resumo só é gravado se ainda não existir, para não sobrescrever resultados.</a:t>
            </a:r>
          </a:p>
          <a:p>
            <a:r>
              <a:rPr lang="en-US"/>
              <a:t/>
            </a:r>
          </a:p>
          <a:p>
            <a:r>
              <a:rPr lang="en-US"/>
              <a:t>[FECHAMENTO] Resumindo: o Makefile é a conveniência, com comandos curtos e caminhos fixos; a CLI é a interface real, que transforma o comando em chamada de função e devolve um código de saída. O trabalho de verdade está nos módulos, que os colegas apresentam a seguir.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e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3.jpe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e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e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eg"/><Relationship Id="rId3" Type="http://schemas.openxmlformats.org/officeDocument/2006/relationships/image" Target="../media/image1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e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13.jpe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e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e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e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e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13.jpeg"/><Relationship Id="rId4" Type="http://schemas.openxmlformats.org/officeDocument/2006/relationships/image" Target="../media/image2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348" y="1204796"/>
            <a:ext cx="13020149" cy="11522832"/>
          </a:xfrm>
          <a:custGeom>
            <a:avLst/>
            <a:gdLst/>
            <a:ahLst/>
            <a:cxnLst/>
            <a:rect r="r" b="b" t="t" l="l"/>
            <a:pathLst>
              <a:path h="11522832" w="13020149">
                <a:moveTo>
                  <a:pt x="0" y="0"/>
                </a:moveTo>
                <a:lnTo>
                  <a:pt x="13020149" y="0"/>
                </a:lnTo>
                <a:lnTo>
                  <a:pt x="13020149" y="11522832"/>
                </a:lnTo>
                <a:lnTo>
                  <a:pt x="0" y="11522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84863" y="3638664"/>
            <a:ext cx="14318273" cy="3009673"/>
            <a:chOff x="0" y="0"/>
            <a:chExt cx="19091031" cy="401289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76200"/>
              <a:ext cx="19091031" cy="2905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b="true" sz="420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Classificação de Doenças em Folhas de Feijão com MobileNetV2: Comparação entre Pesos Pré-treinados no ImageNet e Inicialização Aleatória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3019699" y="3206994"/>
              <a:ext cx="13051633" cy="8059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i="true">
                  <a:solidFill>
                    <a:srgbClr val="A6A6A6"/>
                  </a:solidFill>
                  <a:latin typeface="Open Sans 1 Italics"/>
                  <a:ea typeface="Open Sans 1 Italics"/>
                  <a:cs typeface="Open Sans 1 Italics"/>
                  <a:sym typeface="Open Sans 1 Italics"/>
                </a:rPr>
                <a:t>Bean Leaf Disease Classification Using MobileNetV2: Comparing ImageNet Pretrained Weights and Random Initialization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45720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Equipe de Apresentadores: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Miguel Batista · Rafaela Vidal · Beatriz Pereira · Manuela Cavalcanti · Rafael Barros · Ygor Rosa · Hugo Alcântara</a:t>
            </a:r>
          </a:p>
          <a:p>
            <a:pPr>
              <a:defRPr sz="1200" i="1">
                <a:solidFill>
                  <a:srgbClr val="64748B"/>
                </a:solidFill>
              </a:defRPr>
            </a:pPr>
            <a:r>
              <a:t>EL1 – Inteligência Artificial | Prof. Rodrigo Paiva | CESAR School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0581" y="227135"/>
            <a:ext cx="3028951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Agenda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26527" y="1578219"/>
            <a:ext cx="7713785" cy="626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599"/>
              </a:lnSpc>
              <a:buFont typeface="Arial"/>
              <a:buChar char="•"/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01. Introdução &amp; Hipóteses (H₀/H₁)  ➔  Miguel Batista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02. Fundamentação Teórica (Transfer, CNN, Grad-CAM)  ➔  Rafaela Vidal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03. Metodologia &amp; Fluxo Completo (A/B Test Pareado)  ➔  Beatriz Pereira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04. Estruturação do Código &amp; Reprodutibilidade  ➔  Manuela Cavalcanti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05. Análise de Dados &amp; Teste t Pareado (N=30)  ➔  Rafael Barros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06. Análise, Interpretação &amp; Matriz de Confusão  ➔  Ygor Rosa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07. Conclusão, Limitações &amp; Trabalhos Futuros  ➔  Hugo Alcântara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74461" y="1944882"/>
            <a:ext cx="6684839" cy="6397236"/>
          </a:xfrm>
          <a:custGeom>
            <a:avLst/>
            <a:gdLst/>
            <a:ahLst/>
            <a:cxnLst/>
            <a:rect r="r" b="b" t="t" l="l"/>
            <a:pathLst>
              <a:path h="6397236" w="6684839">
                <a:moveTo>
                  <a:pt x="0" y="0"/>
                </a:moveTo>
                <a:lnTo>
                  <a:pt x="6684839" y="0"/>
                </a:lnTo>
                <a:lnTo>
                  <a:pt x="6684839" y="6397236"/>
                </a:lnTo>
                <a:lnTo>
                  <a:pt x="0" y="6397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5389685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529699"/>
            <a:ext cx="8115300" cy="260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Qual o contexto que estamos inseridos?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Em 2017, </a:t>
            </a: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feijão fornecia 24% da proteína consumida diariamente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nas áreas rurais de Uganda.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Em 2020, a Makerere AI Lab com auxílio do NaCRRI, órgão nacional responsável pela pesquisa agrícola em Uganda, finalizou um dataset contendo imagens classificadas com dois tipos de doenças.</a:t>
            </a:r>
          </a:p>
          <a:p>
            <a:pPr algn="l" marL="1165860" indent="-291465" lvl="3">
              <a:lnSpc>
                <a:spcPts val="2520"/>
              </a:lnSpc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Mancha-angular</a:t>
            </a:r>
          </a:p>
          <a:p>
            <a:pPr algn="l" marL="1165860" indent="-291465" lvl="3">
              <a:lnSpc>
                <a:spcPts val="2520"/>
              </a:lnSpc>
              <a:spcBef>
                <a:spcPct val="0"/>
              </a:spcBef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Ferrugem do feijoeiro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Miguel Batista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74461" y="1944882"/>
            <a:ext cx="6684839" cy="6397236"/>
          </a:xfrm>
          <a:custGeom>
            <a:avLst/>
            <a:gdLst/>
            <a:ahLst/>
            <a:cxnLst/>
            <a:rect r="r" b="b" t="t" l="l"/>
            <a:pathLst>
              <a:path h="6397236" w="6684839">
                <a:moveTo>
                  <a:pt x="0" y="0"/>
                </a:moveTo>
                <a:lnTo>
                  <a:pt x="6684839" y="0"/>
                </a:lnTo>
                <a:lnTo>
                  <a:pt x="6684839" y="6397236"/>
                </a:lnTo>
                <a:lnTo>
                  <a:pt x="0" y="6397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5389685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724549"/>
            <a:ext cx="8115300" cy="228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Qual o problema?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 </a:t>
            </a: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identificação de doenças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em folhas pode </a:t>
            </a: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depender de inspeção visual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especializada.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Uso de visão computacional 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permite explorar o apoio à classificação por fotografias.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Poucas imagens dificultam o treinamento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de redes profundas.</a:t>
            </a:r>
          </a:p>
          <a:p>
            <a:pPr algn="l" marL="1165860" indent="-291465" lvl="3">
              <a:lnSpc>
                <a:spcPts val="2520"/>
              </a:lnSpc>
              <a:spcBef>
                <a:spcPct val="0"/>
              </a:spcBef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Um total de 1,295 fotos retiradas de telefones.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529699"/>
            <a:ext cx="8115300" cy="260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Qual o contexto que estamos inseridos?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Em 2017, </a:t>
            </a: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feijão fornecia 24% da proteína consumida diariamente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nas áreas rurais de Uganda.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Em 2020, a Makerere AI Lab com auxílio do NaCRRI, órgão nacional responsável pela pesquisa agrícola em Uganda, finalizou um dataset contendo imagens classificadas com dois tipos de doenças.</a:t>
            </a:r>
          </a:p>
          <a:p>
            <a:pPr algn="l" marL="1165860" indent="-291465" lvl="3">
              <a:lnSpc>
                <a:spcPts val="2520"/>
              </a:lnSpc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Mancha-angular</a:t>
            </a:r>
          </a:p>
          <a:p>
            <a:pPr algn="l" marL="1165860" indent="-291465" lvl="3">
              <a:lnSpc>
                <a:spcPts val="2520"/>
              </a:lnSpc>
              <a:spcBef>
                <a:spcPct val="0"/>
              </a:spcBef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Ferrugem do feijoeiro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Miguel Batista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74461" y="1944882"/>
            <a:ext cx="6684839" cy="6397236"/>
          </a:xfrm>
          <a:custGeom>
            <a:avLst/>
            <a:gdLst/>
            <a:ahLst/>
            <a:cxnLst/>
            <a:rect r="r" b="b" t="t" l="l"/>
            <a:pathLst>
              <a:path h="6397236" w="6684839">
                <a:moveTo>
                  <a:pt x="0" y="0"/>
                </a:moveTo>
                <a:lnTo>
                  <a:pt x="6684839" y="0"/>
                </a:lnTo>
                <a:lnTo>
                  <a:pt x="6684839" y="6397236"/>
                </a:lnTo>
                <a:lnTo>
                  <a:pt x="0" y="6397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5389685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605041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Qual o Objetivo?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O objetivo final é ter um </a:t>
            </a: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modelo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robusto capaz de rodar em telefones e </a:t>
            </a: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que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possa ser utilizado pelos agricultores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724549"/>
            <a:ext cx="8115300" cy="228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Qual o problema?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 </a:t>
            </a: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identificação de doenças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em folhas pode </a:t>
            </a: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depender de inspeção visual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especializada.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Uso de visão computacional 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permite explorar o apoio à classificação por fotografias.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Poucas imagens dificultam o treinamento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de redes profundas.</a:t>
            </a:r>
          </a:p>
          <a:p>
            <a:pPr algn="l" marL="1165860" indent="-291465" lvl="3">
              <a:lnSpc>
                <a:spcPts val="2520"/>
              </a:lnSpc>
              <a:spcBef>
                <a:spcPct val="0"/>
              </a:spcBef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Um total de 1,295 fotos retiradas de telefones.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529699"/>
            <a:ext cx="8115300" cy="260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Qual o contexto que estamos inseridos?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Em 2017, </a:t>
            </a: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feijão fornecia 24% da proteína consumida diariamente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nas áreas rurais de Uganda.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Em 2020, a Makerere AI Lab com auxílio do NaCRRI, órgão nacional responsável pela pesquisa agrícola em Uganda, finalizou um dataset contendo imagens classificadas com dois tipos de doenças.</a:t>
            </a:r>
          </a:p>
          <a:p>
            <a:pPr algn="l" marL="1165860" indent="-291465" lvl="3">
              <a:lnSpc>
                <a:spcPts val="2520"/>
              </a:lnSpc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Mancha-angular</a:t>
            </a:r>
          </a:p>
          <a:p>
            <a:pPr algn="l" marL="1165860" indent="-291465" lvl="3">
              <a:lnSpc>
                <a:spcPts val="2520"/>
              </a:lnSpc>
              <a:spcBef>
                <a:spcPct val="0"/>
              </a:spcBef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Ferrugem do feijoeiro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Miguel Batista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581" y="227135"/>
            <a:ext cx="5389685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529699"/>
            <a:ext cx="8115300" cy="166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Perguntas/Motivação da Pesquisa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Como vamos treinar um modelo com essa pequena quantidade de dados disponíveis?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Qual arquitetura vamos disponibilizar para que os agricultores possam utilizar através do celular?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Miguel Batista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948504">
            <a:off x="2618768" y="3783445"/>
            <a:ext cx="1953844" cy="1504460"/>
          </a:xfrm>
          <a:custGeom>
            <a:avLst/>
            <a:gdLst/>
            <a:ahLst/>
            <a:cxnLst/>
            <a:rect r="r" b="b" t="t" l="l"/>
            <a:pathLst>
              <a:path h="1504460" w="1953844">
                <a:moveTo>
                  <a:pt x="0" y="0"/>
                </a:moveTo>
                <a:lnTo>
                  <a:pt x="1953845" y="0"/>
                </a:lnTo>
                <a:lnTo>
                  <a:pt x="1953845" y="1504460"/>
                </a:lnTo>
                <a:lnTo>
                  <a:pt x="0" y="1504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5389685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529699"/>
            <a:ext cx="8115300" cy="166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Perguntas/Motivação da Pesquisa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Como vamos treinar um modelo com essa pequena quantidade de dados disponíveis?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Qual arquitetura vamos disponibilizar para que os agricultores possam utilizar através do celular?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1257684">
            <a:off x="8777099" y="2333187"/>
            <a:ext cx="1953844" cy="1504460"/>
          </a:xfrm>
          <a:custGeom>
            <a:avLst/>
            <a:gdLst/>
            <a:ahLst/>
            <a:cxnLst/>
            <a:rect r="r" b="b" t="t" l="l"/>
            <a:pathLst>
              <a:path h="1504460" w="1953844">
                <a:moveTo>
                  <a:pt x="0" y="1504460"/>
                </a:moveTo>
                <a:lnTo>
                  <a:pt x="1953844" y="1504460"/>
                </a:lnTo>
                <a:lnTo>
                  <a:pt x="1953844" y="0"/>
                </a:lnTo>
                <a:lnTo>
                  <a:pt x="0" y="0"/>
                </a:lnTo>
                <a:lnTo>
                  <a:pt x="0" y="150446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93176" y="5847422"/>
            <a:ext cx="3836624" cy="61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Existem arquiteturas pensadas para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sistemas com recursos limitados?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24295" y="4238462"/>
            <a:ext cx="3989586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Será o Transfer learning a salvadora?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Miguel Batista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581" y="227135"/>
            <a:ext cx="5389685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4354" y="3835719"/>
            <a:ext cx="15439292" cy="1661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Seria o Transfer</a:t>
            </a: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Learning capaz de melhorar a identificação de doenças em folhas de feijão em uma base com poucos dados, utilizando uma arquitetura leve voltada a dispositivos móveis?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52897" y="7409448"/>
            <a:ext cx="7382206" cy="61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H₀: a média das diferenças pareadas de F1 macro é zero.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H₁: a média das diferenças pareadas de F1 macro é diferente de zero.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Miguel Batista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Fundamentação Teórica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1077058"/>
            <a:ext cx="3608752" cy="53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Transfer Learning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302721"/>
            <a:ext cx="12260873" cy="1471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“O Transfer Learning procura melhorar o aprendizado da função preditiva num domínio e tarefa alvo com o conhecimento de um domínio e tarefa de origem.”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936477"/>
            <a:ext cx="1892687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Pan e Yang (2010)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067379"/>
            <a:ext cx="9185906" cy="198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 Survey on Transfer Learning. IEEE Transactions on Knowledge and Data Engineering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Rafaela Vidal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Fundamentação Teórica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1077058"/>
            <a:ext cx="2126589" cy="53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MobileNet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281441"/>
            <a:ext cx="8115300" cy="134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que é esta Arquitetura? 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Arquitetura de rede neural convolucional (CNN) desenvolvida pelo Google para aplicações de visão computacional em dispositivos móveis e/ou embarcados.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223255"/>
            <a:ext cx="8115300" cy="166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Qual o Objetivo?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Reduzir o custo computacional e o tamanho do modelo sem perder muito desempenho. Para isso utilizou técnicas como:</a:t>
            </a:r>
          </a:p>
          <a:p>
            <a:pPr algn="l" marL="1165860" indent="-291465" lvl="3">
              <a:lnSpc>
                <a:spcPts val="2520"/>
              </a:lnSpc>
              <a:buFont typeface="Arial"/>
              <a:buChar char="￭"/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Convolução Pontual</a:t>
            </a:r>
          </a:p>
          <a:p>
            <a:pPr algn="l" marL="1165860" indent="-291465" lvl="3">
              <a:lnSpc>
                <a:spcPts val="2520"/>
              </a:lnSpc>
              <a:spcBef>
                <a:spcPct val="0"/>
              </a:spcBef>
              <a:buFont typeface="Arial"/>
              <a:buChar char="￭"/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Blocos Residuais Invertidos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Rafaela Vidal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80818" y="1899514"/>
            <a:ext cx="3086100" cy="1200150"/>
            <a:chOff x="0" y="0"/>
            <a:chExt cx="812800" cy="3160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Fundamentação Teórica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0581" y="1077058"/>
            <a:ext cx="2126589" cy="53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MobileNet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281441"/>
            <a:ext cx="8115300" cy="134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que é esta Arquitetura? 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Arquitetura de rede neural convolucional (CNN) desenvolvida pelo Google para aplicações de visão computacional em dispositivos móveis e/ou embarcados.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223255"/>
            <a:ext cx="8115300" cy="166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Qual o Objetivo?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Reduzir o custo computacional e o tamanho do modelo sem perder muito desempenho. Para isso utilizou técnicas como:</a:t>
            </a:r>
          </a:p>
          <a:p>
            <a:pPr algn="l" marL="1165860" indent="-291465" lvl="3">
              <a:lnSpc>
                <a:spcPts val="2520"/>
              </a:lnSpc>
              <a:buFont typeface="Arial"/>
              <a:buChar char="￭"/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Convolução Pontual</a:t>
            </a:r>
          </a:p>
          <a:p>
            <a:pPr algn="l" marL="1165860" indent="-291465" lvl="3">
              <a:lnSpc>
                <a:spcPts val="2520"/>
              </a:lnSpc>
              <a:spcBef>
                <a:spcPct val="0"/>
              </a:spcBef>
              <a:buFont typeface="Arial"/>
              <a:buChar char="￭"/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Blocos Residuais Invertidos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61085" y="2179516"/>
            <a:ext cx="2325566" cy="61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Imagem 3 Canais (RGB)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680818" y="4544533"/>
            <a:ext cx="3086100" cy="1200150"/>
            <a:chOff x="0" y="0"/>
            <a:chExt cx="812800" cy="3160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061085" y="4981714"/>
            <a:ext cx="2325566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Imagem 16 Canais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4223868" y="3099664"/>
            <a:ext cx="0" cy="144486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6" id="16"/>
          <p:cNvSpPr txBox="true"/>
          <p:nvPr/>
        </p:nvSpPr>
        <p:spPr>
          <a:xfrm rot="0">
            <a:off x="13061085" y="3502026"/>
            <a:ext cx="980343" cy="61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Conv. </a:t>
            </a:r>
          </a:p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Pontual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406308" y="3502026"/>
            <a:ext cx="2378320" cy="61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Aumenta a quantidade de canais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01158" y="4667356"/>
            <a:ext cx="1160902" cy="92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Blocos</a:t>
            </a:r>
          </a:p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Residuais</a:t>
            </a:r>
          </a:p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Invertidos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985993" y="4824535"/>
            <a:ext cx="1787657" cy="61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Processa canal por canal</a:t>
            </a:r>
          </a:p>
        </p:txBody>
      </p:sp>
      <p:sp>
        <p:nvSpPr>
          <p:cNvPr name="AutoShape 20" id="20"/>
          <p:cNvSpPr/>
          <p:nvPr/>
        </p:nvSpPr>
        <p:spPr>
          <a:xfrm flipH="true">
            <a:off x="14196612" y="5745481"/>
            <a:ext cx="0" cy="130069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1" id="21"/>
          <p:cNvGrpSpPr/>
          <p:nvPr/>
        </p:nvGrpSpPr>
        <p:grpSpPr>
          <a:xfrm rot="0">
            <a:off x="12653562" y="7046173"/>
            <a:ext cx="3086100" cy="1200150"/>
            <a:chOff x="0" y="0"/>
            <a:chExt cx="812800" cy="31608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033829" y="7326175"/>
            <a:ext cx="2325566" cy="61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Imagem 3 Canais (RGB)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61085" y="6144733"/>
            <a:ext cx="980343" cy="61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Conv. </a:t>
            </a:r>
          </a:p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Pontual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06308" y="6144733"/>
            <a:ext cx="2378320" cy="61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Diminui a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quantidade de canais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Rafaela Vidal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18029" y="4196510"/>
            <a:ext cx="11051942" cy="5061790"/>
          </a:xfrm>
          <a:custGeom>
            <a:avLst/>
            <a:gdLst/>
            <a:ahLst/>
            <a:cxnLst/>
            <a:rect r="r" b="b" t="t" l="l"/>
            <a:pathLst>
              <a:path h="5061790" w="11051942">
                <a:moveTo>
                  <a:pt x="0" y="0"/>
                </a:moveTo>
                <a:lnTo>
                  <a:pt x="11051942" y="0"/>
                </a:lnTo>
                <a:lnTo>
                  <a:pt x="11051942" y="5061790"/>
                </a:lnTo>
                <a:lnTo>
                  <a:pt x="0" y="5061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Fundamentação Teórica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0581" y="1077058"/>
            <a:ext cx="2126589" cy="53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MobileNet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81441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Convolução Pontual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Mistura informações dos canais para criar novas características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Para cada posição, aplica N filtros aos canais, gerando N canais.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Rafaela Vidal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70439" y="4645149"/>
            <a:ext cx="10747122" cy="4613151"/>
          </a:xfrm>
          <a:custGeom>
            <a:avLst/>
            <a:gdLst/>
            <a:ahLst/>
            <a:cxnLst/>
            <a:rect r="r" b="b" t="t" l="l"/>
            <a:pathLst>
              <a:path h="4613151" w="10747122">
                <a:moveTo>
                  <a:pt x="0" y="0"/>
                </a:moveTo>
                <a:lnTo>
                  <a:pt x="10747122" y="0"/>
                </a:lnTo>
                <a:lnTo>
                  <a:pt x="10747122" y="4613151"/>
                </a:lnTo>
                <a:lnTo>
                  <a:pt x="0" y="4613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Fundamentação Teórica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0581" y="1077058"/>
            <a:ext cx="2126589" cy="53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MobileNet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81441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Blocos Residuais Invertidos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O objetivo é aprender mais características úteis, com menor custo.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Processam cada canal, um a 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Rafaela Vidal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37793" y="7093021"/>
            <a:ext cx="3086100" cy="1200150"/>
            <a:chOff x="0" y="0"/>
            <a:chExt cx="812800" cy="3160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65514" y="7093021"/>
            <a:ext cx="3086100" cy="1200150"/>
            <a:chOff x="0" y="0"/>
            <a:chExt cx="812800" cy="3160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93849" y="6508441"/>
            <a:ext cx="2357523" cy="2369309"/>
          </a:xfrm>
          <a:custGeom>
            <a:avLst/>
            <a:gdLst/>
            <a:ahLst/>
            <a:cxnLst/>
            <a:rect r="r" b="b" t="t" l="l"/>
            <a:pathLst>
              <a:path h="2369309" w="2357523">
                <a:moveTo>
                  <a:pt x="0" y="0"/>
                </a:moveTo>
                <a:lnTo>
                  <a:pt x="2357523" y="0"/>
                </a:lnTo>
                <a:lnTo>
                  <a:pt x="2357523" y="2369310"/>
                </a:lnTo>
                <a:lnTo>
                  <a:pt x="0" y="236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01499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Fundamentação Teórica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0581" y="1077058"/>
            <a:ext cx="3631407" cy="53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Segmentação HSV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281441"/>
            <a:ext cx="8115300" cy="197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que é Segmentação?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Sua ideia é segmentação da imagem através de cores. Por meio de intervalos: </a:t>
            </a:r>
          </a:p>
          <a:p>
            <a:pPr algn="l" marL="1165860" indent="-291465" lvl="3">
              <a:lnSpc>
                <a:spcPts val="2520"/>
              </a:lnSpc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Faixa de cor</a:t>
            </a:r>
          </a:p>
          <a:p>
            <a:pPr algn="l" marL="1165860" indent="-291465" lvl="3">
              <a:lnSpc>
                <a:spcPts val="2520"/>
              </a:lnSpc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Intensidade da cor em relação ao cinza</a:t>
            </a:r>
          </a:p>
          <a:p>
            <a:pPr algn="l" marL="1165860" indent="-291465" lvl="3">
              <a:lnSpc>
                <a:spcPts val="2520"/>
              </a:lnSpc>
              <a:spcBef>
                <a:spcPct val="0"/>
              </a:spcBef>
              <a:buFont typeface="Arial"/>
              <a:buChar char="￭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Brilho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923775"/>
            <a:ext cx="4382966" cy="396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Como Funciona?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18060" y="7373023"/>
            <a:ext cx="2325566" cy="61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Convertemos a imagem para HSV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45781" y="7258586"/>
            <a:ext cx="2325566" cy="92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Definimos um intervalo na escala HSV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84510" y="6882346"/>
            <a:ext cx="1138604" cy="61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Preencher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B4B4B4"/>
                </a:solidFill>
                <a:latin typeface="Open Sans 1"/>
                <a:ea typeface="Open Sans 1"/>
                <a:cs typeface="Open Sans 1"/>
                <a:sym typeface="Open Sans 1"/>
              </a:rPr>
              <a:t>de cinza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5695114" y="6525091"/>
            <a:ext cx="2324390" cy="2336011"/>
          </a:xfrm>
          <a:custGeom>
            <a:avLst/>
            <a:gdLst/>
            <a:ahLst/>
            <a:cxnLst/>
            <a:rect r="r" b="b" t="t" l="l"/>
            <a:pathLst>
              <a:path h="2336011" w="2324390">
                <a:moveTo>
                  <a:pt x="0" y="0"/>
                </a:moveTo>
                <a:lnTo>
                  <a:pt x="2324390" y="0"/>
                </a:lnTo>
                <a:lnTo>
                  <a:pt x="2324390" y="2336010"/>
                </a:lnTo>
                <a:lnTo>
                  <a:pt x="0" y="23360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3265" t="-860" r="-102531" b="-564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1126411" y="7093021"/>
            <a:ext cx="3086100" cy="1200150"/>
            <a:chOff x="0" y="0"/>
            <a:chExt cx="812800" cy="3160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506678" y="7258586"/>
            <a:ext cx="2325566" cy="92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Define uma máscara (onde devemos preencher ou não)</a:t>
            </a:r>
          </a:p>
        </p:txBody>
      </p:sp>
      <p:sp>
        <p:nvSpPr>
          <p:cNvPr name="AutoShape 22" id="22"/>
          <p:cNvSpPr/>
          <p:nvPr/>
        </p:nvSpPr>
        <p:spPr>
          <a:xfrm>
            <a:off x="2751372" y="7693096"/>
            <a:ext cx="68642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6523893" y="7693096"/>
            <a:ext cx="94162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4" id="24"/>
          <p:cNvSpPr/>
          <p:nvPr/>
        </p:nvSpPr>
        <p:spPr>
          <a:xfrm>
            <a:off x="10551614" y="7693096"/>
            <a:ext cx="57479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5" id="25"/>
          <p:cNvSpPr/>
          <p:nvPr/>
        </p:nvSpPr>
        <p:spPr>
          <a:xfrm>
            <a:off x="14212511" y="7693096"/>
            <a:ext cx="148260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id="26" name="TextBox 25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Rafaela Vidal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96843" y="1831190"/>
            <a:ext cx="4436540" cy="4457262"/>
          </a:xfrm>
          <a:custGeom>
            <a:avLst/>
            <a:gdLst/>
            <a:ahLst/>
            <a:cxnLst/>
            <a:rect r="r" b="b" t="t" l="l"/>
            <a:pathLst>
              <a:path h="4457262" w="4436540">
                <a:moveTo>
                  <a:pt x="0" y="0"/>
                </a:moveTo>
                <a:lnTo>
                  <a:pt x="4436540" y="0"/>
                </a:lnTo>
                <a:lnTo>
                  <a:pt x="4436540" y="4457262"/>
                </a:lnTo>
                <a:lnTo>
                  <a:pt x="0" y="44572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1401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Fundamentação Teórica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0581" y="1077058"/>
            <a:ext cx="2015298" cy="53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Grad-Cam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81441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que é o Grad-CAM? 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 ideia é termos um mapa que destaca regiões da imagem associadas à previsão de uma classe.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223255"/>
            <a:ext cx="8115300" cy="166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Como funciona?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 CNN processa uma imagem e gera um resultado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O Grad-CAM calcula o </a:t>
            </a:r>
            <a:r>
              <a:rPr lang="en-US" sz="180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‘feature map’ 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da última camada e confere quanto influencia na classe identificada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Uma vez que tem esse </a:t>
            </a:r>
            <a:r>
              <a:rPr lang="en-US" sz="180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feature map 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então sobrepõem na imagem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Rafaela Vidal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69759" y="784780"/>
            <a:ext cx="6989541" cy="8717439"/>
          </a:xfrm>
          <a:custGeom>
            <a:avLst/>
            <a:gdLst/>
            <a:ahLst/>
            <a:cxnLst/>
            <a:rect r="r" b="b" t="t" l="l"/>
            <a:pathLst>
              <a:path h="8717439" w="6989541">
                <a:moveTo>
                  <a:pt x="0" y="0"/>
                </a:moveTo>
                <a:lnTo>
                  <a:pt x="6989541" y="0"/>
                </a:lnTo>
                <a:lnTo>
                  <a:pt x="6989541" y="8717440"/>
                </a:lnTo>
                <a:lnTo>
                  <a:pt x="0" y="8717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Metodologia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345060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Dados e Divisão das Imagens 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Três classes: Mancha Angular, Ferrugem e Saudável.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Fotografias 500x500 pixels, RGB.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Beatriz Pereira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69759" y="784780"/>
            <a:ext cx="6989541" cy="8717439"/>
          </a:xfrm>
          <a:custGeom>
            <a:avLst/>
            <a:gdLst/>
            <a:ahLst/>
            <a:cxnLst/>
            <a:rect r="r" b="b" t="t" l="l"/>
            <a:pathLst>
              <a:path h="8717439" w="6989541">
                <a:moveTo>
                  <a:pt x="0" y="0"/>
                </a:moveTo>
                <a:lnTo>
                  <a:pt x="6989541" y="0"/>
                </a:lnTo>
                <a:lnTo>
                  <a:pt x="6989541" y="8717440"/>
                </a:lnTo>
                <a:lnTo>
                  <a:pt x="0" y="8717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Metodologia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345060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Dados e Divisão das Imagens 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Três classes: Mancha Angular, Ferrugem e Saudável.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Fotografias 500x500 pixels, RGB.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87145"/>
            <a:ext cx="8115300" cy="134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Preparação Imagens 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Conversão de RGB para HSV e criação da Máscara.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Preenchimento do contorno e substituição do fundo.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Redimensionar imagens, reduzindo custo computacional.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Beatriz Pereira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69759" y="784780"/>
            <a:ext cx="6989541" cy="8717439"/>
          </a:xfrm>
          <a:custGeom>
            <a:avLst/>
            <a:gdLst/>
            <a:ahLst/>
            <a:cxnLst/>
            <a:rect r="r" b="b" t="t" l="l"/>
            <a:pathLst>
              <a:path h="8717439" w="6989541">
                <a:moveTo>
                  <a:pt x="0" y="0"/>
                </a:moveTo>
                <a:lnTo>
                  <a:pt x="6989541" y="0"/>
                </a:lnTo>
                <a:lnTo>
                  <a:pt x="6989541" y="8717440"/>
                </a:lnTo>
                <a:lnTo>
                  <a:pt x="0" y="8717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Metodologia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345060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Dados e Divisão das Imagens 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Três classes: Mancha Angular, Ferrugem e Saudável.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Fotografias 500x500 pixels, RGB.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87145"/>
            <a:ext cx="8115300" cy="134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Preparação Imagens 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Conversão de RGB para HSV e criação da Máscara.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Preenchimento do contorno e substituição do fundo.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Redimensionar imagens, reduzindo custo computacional.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543588"/>
            <a:ext cx="8194431" cy="197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Modelo e treinamento 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MobileNetV2 como base.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Cabeça possui 3 saídas, uma para cada classe a ser prevista.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Prevenção a overfitting: Dropout 0.2 e Regularização Ridge (L2) 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Data Augmentation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com espelhamento horizontal e variação de brilho.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Treinamento 100 épocas, </a:t>
            </a:r>
            <a:r>
              <a:rPr lang="en-US" sz="180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batch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de 32 imagens.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Beatriz Pereira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69759" y="784780"/>
            <a:ext cx="6989541" cy="8717439"/>
          </a:xfrm>
          <a:custGeom>
            <a:avLst/>
            <a:gdLst/>
            <a:ahLst/>
            <a:cxnLst/>
            <a:rect r="r" b="b" t="t" l="l"/>
            <a:pathLst>
              <a:path h="8717439" w="6989541">
                <a:moveTo>
                  <a:pt x="0" y="0"/>
                </a:moveTo>
                <a:lnTo>
                  <a:pt x="6989541" y="0"/>
                </a:lnTo>
                <a:lnTo>
                  <a:pt x="6989541" y="8717440"/>
                </a:lnTo>
                <a:lnTo>
                  <a:pt x="0" y="8717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Metodologia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345060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Dados e Divisão das Imagens 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Três classes: Mancha Angular, Ferrugem e Saudável.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Fotografias 500x500 pixels, RGB.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87145"/>
            <a:ext cx="8115300" cy="134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Preparação Imagens 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Conversão de RGB para HSV e criação da Máscara.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Preenchimento do contorno e substituição do fundo.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Redimensionar imagens, reduzindo custo computacional.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543588"/>
            <a:ext cx="8194431" cy="197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Modelo e treinamento 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MobileNetV2 como base, pesos Imagenet (F) e pesos aleatórios (CF)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Cabeça possui 3 saídas, uma para cada classe a ser prevista.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Prevenção a overfitting: Dropout 0.2 e Regularização Ridge (L2) 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Data Augmentation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com espelhamento horizontal e variação de brilho.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Treinamento 100 épocas, </a:t>
            </a:r>
            <a:r>
              <a:rPr lang="en-US" sz="180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batch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de 32 imagens.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928748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Controle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30 simulações pareadas, totalizando 60 treinamentos.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Mesmo conjunto de teste em todas as execuções.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Beatriz Pereira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69759" y="784780"/>
            <a:ext cx="6989541" cy="8717439"/>
          </a:xfrm>
          <a:custGeom>
            <a:avLst/>
            <a:gdLst/>
            <a:ahLst/>
            <a:cxnLst/>
            <a:rect r="r" b="b" t="t" l="l"/>
            <a:pathLst>
              <a:path h="8717439" w="6989541">
                <a:moveTo>
                  <a:pt x="0" y="0"/>
                </a:moveTo>
                <a:lnTo>
                  <a:pt x="6989541" y="0"/>
                </a:lnTo>
                <a:lnTo>
                  <a:pt x="6989541" y="8717440"/>
                </a:lnTo>
                <a:lnTo>
                  <a:pt x="0" y="8717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Metodologia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345060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Dados e Divisão das Imagens 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Três classes: Mancha Angular, Ferrugem e Saudável.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Fotografias 500x500 pixels, RGB.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87145"/>
            <a:ext cx="8115300" cy="134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Preparação Imagens 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Conversão de RGB para HSV e criação da Máscara.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Preenchimento do contorno e substituição do fundo.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Redimensionar imagens, reduzindo custo computacional.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543588"/>
            <a:ext cx="8194431" cy="197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Modelo e treinamento 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MobileNetV2 como base.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Cabeça possui 3 saídas, uma para cada classe a ser prevista.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Prevenção a overfitting: Dropout 0.2 e Regularização Ridge (L2) 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Data Augmentation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com espelhamento horizontal e variação de brilho.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Treinamento 100 épocas, </a:t>
            </a:r>
            <a:r>
              <a:rPr lang="en-US" sz="180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batch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de 32 imagens.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928748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Controle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30 simulações pareadas, totalizando 60 treinamentos.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Mesmo conjunto de teste em todas as execuções.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7831" y="8370833"/>
            <a:ext cx="8115300" cy="166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Avaliação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F1 Macro, as três classes tem o mesmo peso.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Uso Teste T pareado, entender diferença média de desempenho para as duas inicializações.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Grad-CAM, identificar as regiões associadas à classe prevista.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Beatriz Pereira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Fluxo Completo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529699"/>
            <a:ext cx="1725930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proj</a:t>
            </a: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eto adota uma arquitetura modular, dividindo o código em componentes com responsabilidades específicas, facilitando sua organização, manutenção e execução.</a:t>
            </a:r>
          </a:p>
        </p:txBody>
      </p:sp>
      <p:sp>
        <p:nvSpPr>
          <p:cNvPr name="AutoShape 5" id="5"/>
          <p:cNvSpPr/>
          <p:nvPr/>
        </p:nvSpPr>
        <p:spPr>
          <a:xfrm>
            <a:off x="4125565" y="4489721"/>
            <a:ext cx="128153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" id="6"/>
          <p:cNvSpPr/>
          <p:nvPr/>
        </p:nvSpPr>
        <p:spPr>
          <a:xfrm>
            <a:off x="8503967" y="4489721"/>
            <a:ext cx="128080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" id="7"/>
          <p:cNvGrpSpPr/>
          <p:nvPr/>
        </p:nvGrpSpPr>
        <p:grpSpPr>
          <a:xfrm rot="0">
            <a:off x="1028700" y="3802383"/>
            <a:ext cx="3096865" cy="1374676"/>
            <a:chOff x="0" y="0"/>
            <a:chExt cx="812800" cy="3607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360796"/>
            </a:xfrm>
            <a:custGeom>
              <a:avLst/>
              <a:gdLst/>
              <a:ahLst/>
              <a:cxnLst/>
              <a:rect r="r" b="b" t="t" l="l"/>
              <a:pathLst>
                <a:path h="360796" w="812800">
                  <a:moveTo>
                    <a:pt x="127496" y="0"/>
                  </a:moveTo>
                  <a:lnTo>
                    <a:pt x="685304" y="0"/>
                  </a:lnTo>
                  <a:cubicBezTo>
                    <a:pt x="755718" y="0"/>
                    <a:pt x="812800" y="57082"/>
                    <a:pt x="812800" y="127496"/>
                  </a:cubicBezTo>
                  <a:lnTo>
                    <a:pt x="812800" y="233300"/>
                  </a:lnTo>
                  <a:cubicBezTo>
                    <a:pt x="812800" y="267114"/>
                    <a:pt x="799367" y="299543"/>
                    <a:pt x="775457" y="323453"/>
                  </a:cubicBezTo>
                  <a:cubicBezTo>
                    <a:pt x="751547" y="347364"/>
                    <a:pt x="719118" y="360796"/>
                    <a:pt x="685304" y="360796"/>
                  </a:cubicBezTo>
                  <a:lnTo>
                    <a:pt x="127496" y="360796"/>
                  </a:lnTo>
                  <a:cubicBezTo>
                    <a:pt x="57082" y="360796"/>
                    <a:pt x="0" y="303714"/>
                    <a:pt x="0" y="233300"/>
                  </a:cubicBezTo>
                  <a:lnTo>
                    <a:pt x="0" y="127496"/>
                  </a:lnTo>
                  <a:cubicBezTo>
                    <a:pt x="0" y="57082"/>
                    <a:pt x="57082" y="0"/>
                    <a:pt x="12749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812800" cy="389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Makefile / cli.py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07102" y="3802383"/>
            <a:ext cx="3096865" cy="1374676"/>
            <a:chOff x="0" y="0"/>
            <a:chExt cx="812800" cy="3607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360796"/>
            </a:xfrm>
            <a:custGeom>
              <a:avLst/>
              <a:gdLst/>
              <a:ahLst/>
              <a:cxnLst/>
              <a:rect r="r" b="b" t="t" l="l"/>
              <a:pathLst>
                <a:path h="360796" w="812800">
                  <a:moveTo>
                    <a:pt x="127496" y="0"/>
                  </a:moveTo>
                  <a:lnTo>
                    <a:pt x="685304" y="0"/>
                  </a:lnTo>
                  <a:cubicBezTo>
                    <a:pt x="755718" y="0"/>
                    <a:pt x="812800" y="57082"/>
                    <a:pt x="812800" y="127496"/>
                  </a:cubicBezTo>
                  <a:lnTo>
                    <a:pt x="812800" y="233300"/>
                  </a:lnTo>
                  <a:cubicBezTo>
                    <a:pt x="812800" y="267114"/>
                    <a:pt x="799367" y="299543"/>
                    <a:pt x="775457" y="323453"/>
                  </a:cubicBezTo>
                  <a:cubicBezTo>
                    <a:pt x="751547" y="347364"/>
                    <a:pt x="719118" y="360796"/>
                    <a:pt x="685304" y="360796"/>
                  </a:cubicBezTo>
                  <a:lnTo>
                    <a:pt x="127496" y="360796"/>
                  </a:lnTo>
                  <a:cubicBezTo>
                    <a:pt x="57082" y="360796"/>
                    <a:pt x="0" y="303714"/>
                    <a:pt x="0" y="233300"/>
                  </a:cubicBezTo>
                  <a:lnTo>
                    <a:pt x="0" y="127496"/>
                  </a:lnTo>
                  <a:cubicBezTo>
                    <a:pt x="0" y="57082"/>
                    <a:pt x="57082" y="0"/>
                    <a:pt x="12749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12800" cy="389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preparation.py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84769" y="3802383"/>
            <a:ext cx="3096865" cy="1374676"/>
            <a:chOff x="0" y="0"/>
            <a:chExt cx="812800" cy="3607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360796"/>
            </a:xfrm>
            <a:custGeom>
              <a:avLst/>
              <a:gdLst/>
              <a:ahLst/>
              <a:cxnLst/>
              <a:rect r="r" b="b" t="t" l="l"/>
              <a:pathLst>
                <a:path h="360796" w="812800">
                  <a:moveTo>
                    <a:pt x="127496" y="0"/>
                  </a:moveTo>
                  <a:lnTo>
                    <a:pt x="685304" y="0"/>
                  </a:lnTo>
                  <a:cubicBezTo>
                    <a:pt x="755718" y="0"/>
                    <a:pt x="812800" y="57082"/>
                    <a:pt x="812800" y="127496"/>
                  </a:cubicBezTo>
                  <a:lnTo>
                    <a:pt x="812800" y="233300"/>
                  </a:lnTo>
                  <a:cubicBezTo>
                    <a:pt x="812800" y="267114"/>
                    <a:pt x="799367" y="299543"/>
                    <a:pt x="775457" y="323453"/>
                  </a:cubicBezTo>
                  <a:cubicBezTo>
                    <a:pt x="751547" y="347364"/>
                    <a:pt x="719118" y="360796"/>
                    <a:pt x="685304" y="360796"/>
                  </a:cubicBezTo>
                  <a:lnTo>
                    <a:pt x="127496" y="360796"/>
                  </a:lnTo>
                  <a:cubicBezTo>
                    <a:pt x="57082" y="360796"/>
                    <a:pt x="0" y="303714"/>
                    <a:pt x="0" y="233300"/>
                  </a:cubicBezTo>
                  <a:lnTo>
                    <a:pt x="0" y="127496"/>
                  </a:lnTo>
                  <a:cubicBezTo>
                    <a:pt x="0" y="57082"/>
                    <a:pt x="57082" y="0"/>
                    <a:pt x="12749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812800" cy="389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experiment.py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flipV="true">
            <a:off x="12881633" y="4489721"/>
            <a:ext cx="128080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7" id="17"/>
          <p:cNvGrpSpPr/>
          <p:nvPr/>
        </p:nvGrpSpPr>
        <p:grpSpPr>
          <a:xfrm rot="0">
            <a:off x="14162435" y="3802383"/>
            <a:ext cx="3096865" cy="1374676"/>
            <a:chOff x="0" y="0"/>
            <a:chExt cx="812800" cy="3607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360796"/>
            </a:xfrm>
            <a:custGeom>
              <a:avLst/>
              <a:gdLst/>
              <a:ahLst/>
              <a:cxnLst/>
              <a:rect r="r" b="b" t="t" l="l"/>
              <a:pathLst>
                <a:path h="360796" w="812800">
                  <a:moveTo>
                    <a:pt x="127496" y="0"/>
                  </a:moveTo>
                  <a:lnTo>
                    <a:pt x="685304" y="0"/>
                  </a:lnTo>
                  <a:cubicBezTo>
                    <a:pt x="755718" y="0"/>
                    <a:pt x="812800" y="57082"/>
                    <a:pt x="812800" y="127496"/>
                  </a:cubicBezTo>
                  <a:lnTo>
                    <a:pt x="812800" y="233300"/>
                  </a:lnTo>
                  <a:cubicBezTo>
                    <a:pt x="812800" y="267114"/>
                    <a:pt x="799367" y="299543"/>
                    <a:pt x="775457" y="323453"/>
                  </a:cubicBezTo>
                  <a:cubicBezTo>
                    <a:pt x="751547" y="347364"/>
                    <a:pt x="719118" y="360796"/>
                    <a:pt x="685304" y="360796"/>
                  </a:cubicBezTo>
                  <a:lnTo>
                    <a:pt x="127496" y="360796"/>
                  </a:lnTo>
                  <a:cubicBezTo>
                    <a:pt x="57082" y="360796"/>
                    <a:pt x="0" y="303714"/>
                    <a:pt x="0" y="233300"/>
                  </a:cubicBezTo>
                  <a:lnTo>
                    <a:pt x="0" y="127496"/>
                  </a:lnTo>
                  <a:cubicBezTo>
                    <a:pt x="0" y="57082"/>
                    <a:pt x="57082" y="0"/>
                    <a:pt x="12749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812800" cy="389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analysis.py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1314151" y="5177059"/>
            <a:ext cx="0" cy="128080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1" id="21"/>
          <p:cNvGrpSpPr/>
          <p:nvPr/>
        </p:nvGrpSpPr>
        <p:grpSpPr>
          <a:xfrm rot="0">
            <a:off x="9765719" y="6457861"/>
            <a:ext cx="3096865" cy="1374676"/>
            <a:chOff x="0" y="0"/>
            <a:chExt cx="812800" cy="3607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360796"/>
            </a:xfrm>
            <a:custGeom>
              <a:avLst/>
              <a:gdLst/>
              <a:ahLst/>
              <a:cxnLst/>
              <a:rect r="r" b="b" t="t" l="l"/>
              <a:pathLst>
                <a:path h="360796" w="812800">
                  <a:moveTo>
                    <a:pt x="127496" y="0"/>
                  </a:moveTo>
                  <a:lnTo>
                    <a:pt x="685304" y="0"/>
                  </a:lnTo>
                  <a:cubicBezTo>
                    <a:pt x="755718" y="0"/>
                    <a:pt x="812800" y="57082"/>
                    <a:pt x="812800" y="127496"/>
                  </a:cubicBezTo>
                  <a:lnTo>
                    <a:pt x="812800" y="233300"/>
                  </a:lnTo>
                  <a:cubicBezTo>
                    <a:pt x="812800" y="267114"/>
                    <a:pt x="799367" y="299543"/>
                    <a:pt x="775457" y="323453"/>
                  </a:cubicBezTo>
                  <a:cubicBezTo>
                    <a:pt x="751547" y="347364"/>
                    <a:pt x="719118" y="360796"/>
                    <a:pt x="685304" y="360796"/>
                  </a:cubicBezTo>
                  <a:lnTo>
                    <a:pt x="127496" y="360796"/>
                  </a:lnTo>
                  <a:cubicBezTo>
                    <a:pt x="57082" y="360796"/>
                    <a:pt x="0" y="303714"/>
                    <a:pt x="0" y="233300"/>
                  </a:cubicBezTo>
                  <a:lnTo>
                    <a:pt x="0" y="127496"/>
                  </a:lnTo>
                  <a:cubicBezTo>
                    <a:pt x="0" y="57082"/>
                    <a:pt x="57082" y="0"/>
                    <a:pt x="12749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812800" cy="389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Grad-CAM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Beatriz Pereira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0581" y="227135"/>
            <a:ext cx="1028260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Estruturação Código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603" y="1154049"/>
            <a:ext cx="857250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5"/>
              </a:lnSpc>
            </a:pPr>
            <a:r>
              <a:rPr lang="en-US" sz="3225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Makefile + cli.py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348311" y="2338388"/>
            <a:ext cx="3086100" cy="1200150"/>
            <a:chOff x="0" y="0"/>
            <a:chExt cx="4114800" cy="1600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148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4114800">
                  <a:moveTo>
                    <a:pt x="200691" y="0"/>
                  </a:moveTo>
                  <a:lnTo>
                    <a:pt x="3914109" y="0"/>
                  </a:lnTo>
                  <a:cubicBezTo>
                    <a:pt x="4024947" y="0"/>
                    <a:pt x="4114800" y="89853"/>
                    <a:pt x="4114800" y="200691"/>
                  </a:cubicBezTo>
                  <a:lnTo>
                    <a:pt x="4114800" y="1399509"/>
                  </a:lnTo>
                  <a:cubicBezTo>
                    <a:pt x="4114800" y="1510347"/>
                    <a:pt x="4024947" y="1600200"/>
                    <a:pt x="3914109" y="1600200"/>
                  </a:cubicBezTo>
                  <a:lnTo>
                    <a:pt x="200691" y="1600200"/>
                  </a:lnTo>
                  <a:cubicBezTo>
                    <a:pt x="89853" y="1600200"/>
                    <a:pt x="0" y="1510347"/>
                    <a:pt x="0" y="1399509"/>
                  </a:cubicBezTo>
                  <a:lnTo>
                    <a:pt x="0" y="200691"/>
                  </a:lnTo>
                  <a:cubicBezTo>
                    <a:pt x="0" y="89853"/>
                    <a:pt x="89853" y="0"/>
                    <a:pt x="20069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114800" cy="161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763625" y="2338388"/>
            <a:ext cx="3086100" cy="1200150"/>
            <a:chOff x="0" y="0"/>
            <a:chExt cx="4114800" cy="1600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148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4114800">
                  <a:moveTo>
                    <a:pt x="200691" y="0"/>
                  </a:moveTo>
                  <a:lnTo>
                    <a:pt x="3914109" y="0"/>
                  </a:lnTo>
                  <a:cubicBezTo>
                    <a:pt x="4024947" y="0"/>
                    <a:pt x="4114800" y="89853"/>
                    <a:pt x="4114800" y="200691"/>
                  </a:cubicBezTo>
                  <a:lnTo>
                    <a:pt x="4114800" y="1399509"/>
                  </a:lnTo>
                  <a:cubicBezTo>
                    <a:pt x="4114800" y="1510347"/>
                    <a:pt x="4024947" y="1600200"/>
                    <a:pt x="3914109" y="1600200"/>
                  </a:cubicBezTo>
                  <a:lnTo>
                    <a:pt x="200691" y="1600200"/>
                  </a:lnTo>
                  <a:cubicBezTo>
                    <a:pt x="89853" y="1600200"/>
                    <a:pt x="0" y="1510347"/>
                    <a:pt x="0" y="1399509"/>
                  </a:cubicBezTo>
                  <a:lnTo>
                    <a:pt x="0" y="200691"/>
                  </a:lnTo>
                  <a:cubicBezTo>
                    <a:pt x="0" y="89853"/>
                    <a:pt x="89853" y="0"/>
                    <a:pt x="20069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4114800" cy="161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763625" y="4964430"/>
            <a:ext cx="3086100" cy="1200150"/>
            <a:chOff x="0" y="0"/>
            <a:chExt cx="4114800" cy="1600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148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4114800">
                  <a:moveTo>
                    <a:pt x="200691" y="0"/>
                  </a:moveTo>
                  <a:lnTo>
                    <a:pt x="3914109" y="0"/>
                  </a:lnTo>
                  <a:cubicBezTo>
                    <a:pt x="4024947" y="0"/>
                    <a:pt x="4114800" y="89853"/>
                    <a:pt x="4114800" y="200691"/>
                  </a:cubicBezTo>
                  <a:lnTo>
                    <a:pt x="4114800" y="1399509"/>
                  </a:lnTo>
                  <a:cubicBezTo>
                    <a:pt x="4114800" y="1510347"/>
                    <a:pt x="4024947" y="1600200"/>
                    <a:pt x="3914109" y="1600200"/>
                  </a:cubicBezTo>
                  <a:lnTo>
                    <a:pt x="200691" y="1600200"/>
                  </a:lnTo>
                  <a:cubicBezTo>
                    <a:pt x="89853" y="1600200"/>
                    <a:pt x="0" y="1510347"/>
                    <a:pt x="0" y="1399509"/>
                  </a:cubicBezTo>
                  <a:lnTo>
                    <a:pt x="0" y="200691"/>
                  </a:lnTo>
                  <a:cubicBezTo>
                    <a:pt x="0" y="89853"/>
                    <a:pt x="89853" y="0"/>
                    <a:pt x="20069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114800" cy="161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763625" y="7466171"/>
            <a:ext cx="3086100" cy="1200150"/>
            <a:chOff x="0" y="0"/>
            <a:chExt cx="4114800" cy="1600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148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4114800">
                  <a:moveTo>
                    <a:pt x="200691" y="0"/>
                  </a:moveTo>
                  <a:lnTo>
                    <a:pt x="3914109" y="0"/>
                  </a:lnTo>
                  <a:cubicBezTo>
                    <a:pt x="4024947" y="0"/>
                    <a:pt x="4114800" y="89853"/>
                    <a:pt x="4114800" y="200691"/>
                  </a:cubicBezTo>
                  <a:lnTo>
                    <a:pt x="4114800" y="1399509"/>
                  </a:lnTo>
                  <a:cubicBezTo>
                    <a:pt x="4114800" y="1510347"/>
                    <a:pt x="4024947" y="1600200"/>
                    <a:pt x="3914109" y="1600200"/>
                  </a:cubicBezTo>
                  <a:lnTo>
                    <a:pt x="200691" y="1600200"/>
                  </a:lnTo>
                  <a:cubicBezTo>
                    <a:pt x="89853" y="1600200"/>
                    <a:pt x="0" y="1510347"/>
                    <a:pt x="0" y="1399509"/>
                  </a:cubicBezTo>
                  <a:lnTo>
                    <a:pt x="0" y="200691"/>
                  </a:lnTo>
                  <a:cubicBezTo>
                    <a:pt x="0" y="89853"/>
                    <a:pt x="89853" y="0"/>
                    <a:pt x="20069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114800" cy="161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48311" y="7466171"/>
            <a:ext cx="3086100" cy="1200150"/>
            <a:chOff x="0" y="0"/>
            <a:chExt cx="4114800" cy="1600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148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4114800">
                  <a:moveTo>
                    <a:pt x="200691" y="0"/>
                  </a:moveTo>
                  <a:lnTo>
                    <a:pt x="3914109" y="0"/>
                  </a:lnTo>
                  <a:cubicBezTo>
                    <a:pt x="4024947" y="0"/>
                    <a:pt x="4114800" y="89853"/>
                    <a:pt x="4114800" y="200691"/>
                  </a:cubicBezTo>
                  <a:lnTo>
                    <a:pt x="4114800" y="1399509"/>
                  </a:lnTo>
                  <a:cubicBezTo>
                    <a:pt x="4114800" y="1510347"/>
                    <a:pt x="4024947" y="1600200"/>
                    <a:pt x="3914109" y="1600200"/>
                  </a:cubicBezTo>
                  <a:lnTo>
                    <a:pt x="200691" y="1600200"/>
                  </a:lnTo>
                  <a:cubicBezTo>
                    <a:pt x="89853" y="1600200"/>
                    <a:pt x="0" y="1510347"/>
                    <a:pt x="0" y="1399509"/>
                  </a:cubicBezTo>
                  <a:lnTo>
                    <a:pt x="0" y="200691"/>
                  </a:lnTo>
                  <a:cubicBezTo>
                    <a:pt x="0" y="89853"/>
                    <a:pt x="89853" y="0"/>
                    <a:pt x="20069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4114800" cy="161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468225" y="2819400"/>
            <a:ext cx="1257300" cy="228600"/>
            <a:chOff x="0" y="0"/>
            <a:chExt cx="1676400" cy="304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76400" cy="304800"/>
            </a:xfrm>
            <a:custGeom>
              <a:avLst/>
              <a:gdLst/>
              <a:ahLst/>
              <a:cxnLst/>
              <a:rect r="r" b="b" t="t" l="l"/>
              <a:pathLst>
                <a:path h="304800" w="1676400">
                  <a:moveTo>
                    <a:pt x="0" y="127000"/>
                  </a:moveTo>
                  <a:lnTo>
                    <a:pt x="1422400" y="127000"/>
                  </a:lnTo>
                  <a:lnTo>
                    <a:pt x="1422400" y="0"/>
                  </a:lnTo>
                  <a:lnTo>
                    <a:pt x="1676400" y="152400"/>
                  </a:lnTo>
                  <a:lnTo>
                    <a:pt x="1422400" y="304800"/>
                  </a:lnTo>
                  <a:lnTo>
                    <a:pt x="1422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676400" cy="323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192375" y="3571875"/>
            <a:ext cx="228600" cy="1352550"/>
            <a:chOff x="0" y="0"/>
            <a:chExt cx="304800" cy="1803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4800" cy="1803400"/>
            </a:xfrm>
            <a:custGeom>
              <a:avLst/>
              <a:gdLst/>
              <a:ahLst/>
              <a:cxnLst/>
              <a:rect r="r" b="b" t="t" l="l"/>
              <a:pathLst>
                <a:path h="1803400" w="304800">
                  <a:moveTo>
                    <a:pt x="127000" y="0"/>
                  </a:moveTo>
                  <a:lnTo>
                    <a:pt x="177800" y="0"/>
                  </a:lnTo>
                  <a:lnTo>
                    <a:pt x="177800" y="1549400"/>
                  </a:lnTo>
                  <a:lnTo>
                    <a:pt x="304800" y="1549400"/>
                  </a:lnTo>
                  <a:lnTo>
                    <a:pt x="152400" y="1803400"/>
                  </a:lnTo>
                  <a:lnTo>
                    <a:pt x="0" y="1549400"/>
                  </a:lnTo>
                  <a:lnTo>
                    <a:pt x="127000" y="1549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304800" cy="182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192375" y="6200775"/>
            <a:ext cx="228600" cy="1219200"/>
            <a:chOff x="0" y="0"/>
            <a:chExt cx="304800" cy="1625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048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304800">
                  <a:moveTo>
                    <a:pt x="127000" y="0"/>
                  </a:moveTo>
                  <a:lnTo>
                    <a:pt x="177800" y="0"/>
                  </a:lnTo>
                  <a:lnTo>
                    <a:pt x="177800" y="1371600"/>
                  </a:lnTo>
                  <a:lnTo>
                    <a:pt x="304800" y="1371600"/>
                  </a:lnTo>
                  <a:lnTo>
                    <a:pt x="152400" y="1625600"/>
                  </a:lnTo>
                  <a:lnTo>
                    <a:pt x="0" y="1371600"/>
                  </a:lnTo>
                  <a:lnTo>
                    <a:pt x="127000" y="13716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304800" cy="1644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468225" y="7962900"/>
            <a:ext cx="1257300" cy="228600"/>
            <a:chOff x="0" y="0"/>
            <a:chExt cx="1676400" cy="304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76400" cy="304800"/>
            </a:xfrm>
            <a:custGeom>
              <a:avLst/>
              <a:gdLst/>
              <a:ahLst/>
              <a:cxnLst/>
              <a:rect r="r" b="b" t="t" l="l"/>
              <a:pathLst>
                <a:path h="304800" w="1676400">
                  <a:moveTo>
                    <a:pt x="1676400" y="127000"/>
                  </a:moveTo>
                  <a:lnTo>
                    <a:pt x="1676400" y="177800"/>
                  </a:lnTo>
                  <a:lnTo>
                    <a:pt x="254000" y="177800"/>
                  </a:lnTo>
                  <a:lnTo>
                    <a:pt x="254000" y="304800"/>
                  </a:lnTo>
                  <a:lnTo>
                    <a:pt x="0" y="152400"/>
                  </a:lnTo>
                  <a:lnTo>
                    <a:pt x="254000" y="0"/>
                  </a:lnTo>
                  <a:lnTo>
                    <a:pt x="254000" y="1270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676400" cy="323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729311" y="2770823"/>
            <a:ext cx="23241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Entradas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144625" y="2775585"/>
            <a:ext cx="23241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main()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144625" y="5354955"/>
            <a:ext cx="23241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Handlers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144625" y="7599997"/>
            <a:ext cx="232410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preparation.py</a:t>
            </a:r>
          </a:p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experiment.py</a:t>
            </a:r>
          </a:p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analysis.py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25025" y="7914322"/>
            <a:ext cx="23241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Saídas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001125" y="1403985"/>
            <a:ext cx="34290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make all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001125" y="1808798"/>
            <a:ext cx="34290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protocol.json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763625" y="1808798"/>
            <a:ext cx="30861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_parser()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782175" y="5016817"/>
            <a:ext cx="38100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_prepare()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82175" y="5354955"/>
            <a:ext cx="38100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_experiment()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82175" y="5680710"/>
            <a:ext cx="38100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_analyze()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28700" y="2671762"/>
            <a:ext cx="81153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Entradas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8700" y="3108007"/>
            <a:ext cx="81153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Comando do terminal (make) e o protocol.json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28700" y="3567112"/>
            <a:ext cx="81153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Makefile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28700" y="4003357"/>
            <a:ext cx="81153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Atalhos: prepare, experiment, analyze e all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all executa as três etapas na ordem certa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28700" y="4852988"/>
            <a:ext cx="81153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_parser() e main()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28700" y="5289233"/>
            <a:ext cx="81153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Criam os subcomandos prepare, experiment e analyze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Leem os argumentos e chamam a função certa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28700" y="6138862"/>
            <a:ext cx="81153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_prepare(), _experiment() e _analyze()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28700" y="6575107"/>
            <a:ext cx="81153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Só orquestram: delegam o trabalho aos módulos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Erro vira mensagem no stderr e código de saída 2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28700" y="7424738"/>
            <a:ext cx="81153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Saídas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28700" y="7860982"/>
            <a:ext cx="81153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Imagens, result.json por seed e summary.json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No terminal: médias, diferenças e teste t pareado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12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028700" y="8858250"/>
            <a:ext cx="15640050" cy="990600"/>
            <a:chOff x="0" y="0"/>
            <a:chExt cx="20853400" cy="1320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8534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20853400">
                  <a:moveTo>
                    <a:pt x="19800" y="0"/>
                  </a:moveTo>
                  <a:lnTo>
                    <a:pt x="20833600" y="0"/>
                  </a:lnTo>
                  <a:cubicBezTo>
                    <a:pt x="20844535" y="0"/>
                    <a:pt x="20853400" y="8865"/>
                    <a:pt x="20853400" y="19800"/>
                  </a:cubicBezTo>
                  <a:lnTo>
                    <a:pt x="20853400" y="1301000"/>
                  </a:lnTo>
                  <a:cubicBezTo>
                    <a:pt x="20853400" y="1311935"/>
                    <a:pt x="20844535" y="1320800"/>
                    <a:pt x="20833600" y="1320800"/>
                  </a:cubicBezTo>
                  <a:lnTo>
                    <a:pt x="19800" y="1320800"/>
                  </a:lnTo>
                  <a:cubicBezTo>
                    <a:pt x="8865" y="1320800"/>
                    <a:pt x="0" y="1311935"/>
                    <a:pt x="0" y="1301000"/>
                  </a:cubicBezTo>
                  <a:lnTo>
                    <a:pt x="0" y="19800"/>
                  </a:lnTo>
                  <a:cubicBezTo>
                    <a:pt x="0" y="8865"/>
                    <a:pt x="8865" y="0"/>
                    <a:pt x="198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0853400" cy="135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333500" y="8934450"/>
            <a:ext cx="3048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7A7A7A"/>
                </a:solidFill>
                <a:latin typeface="Arimo Bold"/>
                <a:ea typeface="Arimo Bold"/>
                <a:cs typeface="Arimo Bold"/>
                <a:sym typeface="Arimo Bold"/>
              </a:rPr>
              <a:t>Sem o Makefile: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476750" y="8934450"/>
            <a:ext cx="12001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7A7A7A"/>
                </a:solidFill>
                <a:latin typeface="Arimo"/>
                <a:ea typeface="Arimo"/>
                <a:cs typeface="Arimo"/>
                <a:sym typeface="Arimo"/>
              </a:rPr>
              <a:t>uv run experimento-feijao prepare --config protocol.json --output artifacts/v1/segmented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33500" y="9353550"/>
            <a:ext cx="3048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Com o Makefile: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476750" y="9353550"/>
            <a:ext cx="12001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make prepare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Manuela Cavalcanti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Estruturação Código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581" y="1163574"/>
            <a:ext cx="303736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preparation.py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790971" y="2319541"/>
            <a:ext cx="3086100" cy="1200150"/>
            <a:chOff x="0" y="0"/>
            <a:chExt cx="812800" cy="3160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171238" y="2599543"/>
            <a:ext cx="232556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_load_beans_mirror()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790971" y="4964560"/>
            <a:ext cx="3086100" cy="1200150"/>
            <a:chOff x="0" y="0"/>
            <a:chExt cx="812800" cy="3160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171238" y="5401741"/>
            <a:ext cx="232556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_segment()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5334021" y="3519691"/>
            <a:ext cx="0" cy="144486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" id="13"/>
          <p:cNvSpPr/>
          <p:nvPr/>
        </p:nvSpPr>
        <p:spPr>
          <a:xfrm flipH="true">
            <a:off x="15306765" y="6165508"/>
            <a:ext cx="0" cy="130069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13763715" y="7466200"/>
            <a:ext cx="3086100" cy="1200150"/>
            <a:chOff x="0" y="0"/>
            <a:chExt cx="812800" cy="31608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143982" y="7746202"/>
            <a:ext cx="2325566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_write_segmented_image()</a:t>
            </a:r>
          </a:p>
        </p:txBody>
      </p:sp>
      <p:sp>
        <p:nvSpPr>
          <p:cNvPr name="AutoShape 18" id="18"/>
          <p:cNvSpPr/>
          <p:nvPr/>
        </p:nvSpPr>
        <p:spPr>
          <a:xfrm>
            <a:off x="12463023" y="2938666"/>
            <a:ext cx="130069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 flipH="true" flipV="true">
            <a:off x="12463023" y="8085325"/>
            <a:ext cx="130069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9348348" y="2338591"/>
            <a:ext cx="3086100" cy="1200150"/>
            <a:chOff x="0" y="0"/>
            <a:chExt cx="812800" cy="31608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728615" y="2618593"/>
            <a:ext cx="232556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Entradas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348348" y="7485250"/>
            <a:ext cx="3086100" cy="1200150"/>
            <a:chOff x="0" y="0"/>
            <a:chExt cx="812800" cy="31608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728615" y="7765252"/>
            <a:ext cx="232556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Saídas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2281441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Entradas e prepare()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Configurações definidas pelo protocol.json + caminho de saída.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Coordena todo o processamento.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3561601"/>
            <a:ext cx="8115300" cy="71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_load_beans_mirror()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Carrega e organiza as imagens em treinamento, validação e teste.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4527436"/>
            <a:ext cx="81153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_segment()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Identifica a silhueta da folha utilizando HSV e operações morfológicas.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Substitui o fundo cinza e redimensiona para 160x160.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6253687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_write_segmented_image()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Salva as imagens processadas em formato PNG, organizadas por conjunto e classe.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7667197"/>
            <a:ext cx="81153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Saídas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Imagens segmentadas, posteriormente utilizadas pelo experiment.py.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Contagem das imagens processadas, retornadas à CLI.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166939" y="1404239"/>
            <a:ext cx="110065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prepare()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730078" y="1445748"/>
            <a:ext cx="320788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_download_mirror_archive()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592249" y="1868357"/>
            <a:ext cx="3345715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_read_archive_records() - RGB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37921" y="5017078"/>
            <a:ext cx="145794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_leaf_mask()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717267" y="5354658"/>
            <a:ext cx="284130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_largest_leaf_silhouette()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126041" y="5681158"/>
            <a:ext cx="3432534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_compose_segmented_image()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444034" y="1822336"/>
            <a:ext cx="454646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_validate_segmentation_configuration()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937964" y="2788171"/>
            <a:ext cx="110065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_sha256()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7104958" y="2465240"/>
            <a:ext cx="76666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SPLITS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7259300" y="9805647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570104" y="4072141"/>
            <a:ext cx="1534854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B4B4B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ImageRecord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Manuela Cavalcanti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01885" y="2461233"/>
            <a:ext cx="13084230" cy="5364534"/>
          </a:xfrm>
          <a:custGeom>
            <a:avLst/>
            <a:gdLst/>
            <a:ahLst/>
            <a:cxnLst/>
            <a:rect r="r" b="b" t="t" l="l"/>
            <a:pathLst>
              <a:path h="5364534" w="13084230">
                <a:moveTo>
                  <a:pt x="0" y="0"/>
                </a:moveTo>
                <a:lnTo>
                  <a:pt x="13084230" y="0"/>
                </a:lnTo>
                <a:lnTo>
                  <a:pt x="13084230" y="5364534"/>
                </a:lnTo>
                <a:lnTo>
                  <a:pt x="0" y="5364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Estruturação Código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0581" y="1163574"/>
            <a:ext cx="303736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preparation.py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Manuela Cavalcanti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Estruturação Código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1163574"/>
            <a:ext cx="296751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experiment.py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730577" y="3198895"/>
            <a:ext cx="7528723" cy="4770999"/>
            <a:chOff x="0" y="0"/>
            <a:chExt cx="10038297" cy="636133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5923497" y="0"/>
              <a:ext cx="4114800" cy="1600200"/>
              <a:chOff x="0" y="0"/>
              <a:chExt cx="812800" cy="31608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316089"/>
              </a:xfrm>
              <a:custGeom>
                <a:avLst/>
                <a:gdLst/>
                <a:ahLst/>
                <a:cxnLst/>
                <a:rect r="r" b="b" t="t" l="l"/>
                <a:pathLst>
                  <a:path h="316089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88148"/>
                    </a:lnTo>
                    <a:cubicBezTo>
                      <a:pt x="812800" y="222080"/>
                      <a:pt x="799321" y="254622"/>
                      <a:pt x="775327" y="278616"/>
                    </a:cubicBezTo>
                    <a:cubicBezTo>
                      <a:pt x="751333" y="302609"/>
                      <a:pt x="718791" y="316089"/>
                      <a:pt x="684859" y="316089"/>
                    </a:cubicBezTo>
                    <a:lnTo>
                      <a:pt x="127941" y="316089"/>
                    </a:lnTo>
                    <a:cubicBezTo>
                      <a:pt x="94009" y="316089"/>
                      <a:pt x="61467" y="302609"/>
                      <a:pt x="37473" y="278616"/>
                    </a:cubicBezTo>
                    <a:cubicBezTo>
                      <a:pt x="13479" y="254622"/>
                      <a:pt x="0" y="222080"/>
                      <a:pt x="0" y="188148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812800" cy="3446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6394179" y="198755"/>
              <a:ext cx="3100754" cy="1224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run_experiment():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_derive_seed()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_run_branch()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5923497" y="3526692"/>
              <a:ext cx="4114800" cy="2834640"/>
              <a:chOff x="0" y="0"/>
              <a:chExt cx="812800" cy="55992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559929"/>
              </a:xfrm>
              <a:custGeom>
                <a:avLst/>
                <a:gdLst/>
                <a:ahLst/>
                <a:cxnLst/>
                <a:rect r="r" b="b" t="t" l="l"/>
                <a:pathLst>
                  <a:path h="559929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431988"/>
                    </a:lnTo>
                    <a:cubicBezTo>
                      <a:pt x="812800" y="465920"/>
                      <a:pt x="799321" y="498462"/>
                      <a:pt x="775327" y="522456"/>
                    </a:cubicBezTo>
                    <a:cubicBezTo>
                      <a:pt x="751333" y="546449"/>
                      <a:pt x="718791" y="559929"/>
                      <a:pt x="684859" y="559929"/>
                    </a:cubicBezTo>
                    <a:lnTo>
                      <a:pt x="127941" y="559929"/>
                    </a:lnTo>
                    <a:cubicBezTo>
                      <a:pt x="94009" y="559929"/>
                      <a:pt x="61467" y="546449"/>
                      <a:pt x="37473" y="522456"/>
                    </a:cubicBezTo>
                    <a:cubicBezTo>
                      <a:pt x="13479" y="498462"/>
                      <a:pt x="0" y="465920"/>
                      <a:pt x="0" y="431988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812800" cy="5885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6309551" y="4107717"/>
              <a:ext cx="3342693" cy="16440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_run_branch():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_build_model()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_epoch_training_data()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_metrics()</a:t>
              </a: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7980897" y="1600200"/>
              <a:ext cx="0" cy="1926492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4152900" y="825500"/>
              <a:ext cx="1734256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6" id="16"/>
            <p:cNvSpPr/>
            <p:nvPr/>
          </p:nvSpPr>
          <p:spPr>
            <a:xfrm flipH="true" flipV="true">
              <a:off x="4189242" y="4969412"/>
              <a:ext cx="1734256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17" id="17"/>
            <p:cNvGrpSpPr/>
            <p:nvPr/>
          </p:nvGrpSpPr>
          <p:grpSpPr>
            <a:xfrm rot="0">
              <a:off x="0" y="25400"/>
              <a:ext cx="4114800" cy="1600200"/>
              <a:chOff x="0" y="0"/>
              <a:chExt cx="812800" cy="31608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316089"/>
              </a:xfrm>
              <a:custGeom>
                <a:avLst/>
                <a:gdLst/>
                <a:ahLst/>
                <a:cxnLst/>
                <a:rect r="r" b="b" t="t" l="l"/>
                <a:pathLst>
                  <a:path h="316089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88148"/>
                    </a:lnTo>
                    <a:cubicBezTo>
                      <a:pt x="812800" y="222080"/>
                      <a:pt x="799321" y="254622"/>
                      <a:pt x="775327" y="278616"/>
                    </a:cubicBezTo>
                    <a:cubicBezTo>
                      <a:pt x="751333" y="302609"/>
                      <a:pt x="718791" y="316089"/>
                      <a:pt x="684859" y="316089"/>
                    </a:cubicBezTo>
                    <a:lnTo>
                      <a:pt x="127941" y="316089"/>
                    </a:lnTo>
                    <a:cubicBezTo>
                      <a:pt x="94009" y="316089"/>
                      <a:pt x="61467" y="302609"/>
                      <a:pt x="37473" y="278616"/>
                    </a:cubicBezTo>
                    <a:cubicBezTo>
                      <a:pt x="13479" y="254622"/>
                      <a:pt x="0" y="222080"/>
                      <a:pt x="0" y="188148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812800" cy="3446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363113" y="617855"/>
              <a:ext cx="1388573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Entradas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74442" y="4114800"/>
              <a:ext cx="4114800" cy="1600200"/>
              <a:chOff x="0" y="0"/>
              <a:chExt cx="812800" cy="31608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316089"/>
              </a:xfrm>
              <a:custGeom>
                <a:avLst/>
                <a:gdLst/>
                <a:ahLst/>
                <a:cxnLst/>
                <a:rect r="r" b="b" t="t" l="l"/>
                <a:pathLst>
                  <a:path h="316089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88148"/>
                    </a:lnTo>
                    <a:cubicBezTo>
                      <a:pt x="812800" y="222080"/>
                      <a:pt x="799321" y="254622"/>
                      <a:pt x="775327" y="278616"/>
                    </a:cubicBezTo>
                    <a:cubicBezTo>
                      <a:pt x="751333" y="302609"/>
                      <a:pt x="718791" y="316089"/>
                      <a:pt x="684859" y="316089"/>
                    </a:cubicBezTo>
                    <a:lnTo>
                      <a:pt x="127941" y="316089"/>
                    </a:lnTo>
                    <a:cubicBezTo>
                      <a:pt x="94009" y="316089"/>
                      <a:pt x="61467" y="302609"/>
                      <a:pt x="37473" y="278616"/>
                    </a:cubicBezTo>
                    <a:cubicBezTo>
                      <a:pt x="13479" y="254622"/>
                      <a:pt x="0" y="222080"/>
                      <a:pt x="0" y="188148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28575"/>
                <a:ext cx="812800" cy="3446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632967" y="4761767"/>
              <a:ext cx="997749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Saídas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75162" y="2708548"/>
            <a:ext cx="8115300" cy="197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Entradas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protocol.json: hiperparâmetros e as 30 seeds.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Imagens segmentadas (artifacts/segmented/), geradas antes por make prepare.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Constantes importadas de preparation.py: SEEDS, DATASET_VERSION, BEANS_CLASSES.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75162" y="4891927"/>
            <a:ext cx="81153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run_experiment()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Carrega e organiza as imagens em treinamento, validação e teste.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Percorre as 30 seeds e pula pares que já têm resultado.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Para cada seed, treina os dois ramos: ImageNet e pesos aleatórios.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5162" y="6734723"/>
            <a:ext cx="81153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_derive_seed()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Transforma a seed do par em 5 seeds internas: base, head, data, augmentation e dropout.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Mantém a aleatoriedade reproduzível e igual nos dois ramos.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Manuela Cavalcanti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Estruturação Código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1163574"/>
            <a:ext cx="296751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experiment.py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730577" y="3198895"/>
            <a:ext cx="7528723" cy="4770999"/>
            <a:chOff x="0" y="0"/>
            <a:chExt cx="10038297" cy="636133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5923497" y="0"/>
              <a:ext cx="4114800" cy="1600200"/>
              <a:chOff x="0" y="0"/>
              <a:chExt cx="812800" cy="31608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316089"/>
              </a:xfrm>
              <a:custGeom>
                <a:avLst/>
                <a:gdLst/>
                <a:ahLst/>
                <a:cxnLst/>
                <a:rect r="r" b="b" t="t" l="l"/>
                <a:pathLst>
                  <a:path h="316089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88148"/>
                    </a:lnTo>
                    <a:cubicBezTo>
                      <a:pt x="812800" y="222080"/>
                      <a:pt x="799321" y="254622"/>
                      <a:pt x="775327" y="278616"/>
                    </a:cubicBezTo>
                    <a:cubicBezTo>
                      <a:pt x="751333" y="302609"/>
                      <a:pt x="718791" y="316089"/>
                      <a:pt x="684859" y="316089"/>
                    </a:cubicBezTo>
                    <a:lnTo>
                      <a:pt x="127941" y="316089"/>
                    </a:lnTo>
                    <a:cubicBezTo>
                      <a:pt x="94009" y="316089"/>
                      <a:pt x="61467" y="302609"/>
                      <a:pt x="37473" y="278616"/>
                    </a:cubicBezTo>
                    <a:cubicBezTo>
                      <a:pt x="13479" y="254622"/>
                      <a:pt x="0" y="222080"/>
                      <a:pt x="0" y="188148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812800" cy="3446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6394179" y="198755"/>
              <a:ext cx="3100754" cy="1224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run_experiment():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_derive_seed()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_run_branch()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5923497" y="3526692"/>
              <a:ext cx="4114800" cy="2834640"/>
              <a:chOff x="0" y="0"/>
              <a:chExt cx="812800" cy="55992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559929"/>
              </a:xfrm>
              <a:custGeom>
                <a:avLst/>
                <a:gdLst/>
                <a:ahLst/>
                <a:cxnLst/>
                <a:rect r="r" b="b" t="t" l="l"/>
                <a:pathLst>
                  <a:path h="559929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431988"/>
                    </a:lnTo>
                    <a:cubicBezTo>
                      <a:pt x="812800" y="465920"/>
                      <a:pt x="799321" y="498462"/>
                      <a:pt x="775327" y="522456"/>
                    </a:cubicBezTo>
                    <a:cubicBezTo>
                      <a:pt x="751333" y="546449"/>
                      <a:pt x="718791" y="559929"/>
                      <a:pt x="684859" y="559929"/>
                    </a:cubicBezTo>
                    <a:lnTo>
                      <a:pt x="127941" y="559929"/>
                    </a:lnTo>
                    <a:cubicBezTo>
                      <a:pt x="94009" y="559929"/>
                      <a:pt x="61467" y="546449"/>
                      <a:pt x="37473" y="522456"/>
                    </a:cubicBezTo>
                    <a:cubicBezTo>
                      <a:pt x="13479" y="498462"/>
                      <a:pt x="0" y="465920"/>
                      <a:pt x="0" y="431988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812800" cy="5885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6309551" y="4107717"/>
              <a:ext cx="3342693" cy="16440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_run_branch():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_build_model()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_epoch_training_data()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_metrics()</a:t>
              </a: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7980897" y="1600200"/>
              <a:ext cx="0" cy="1926492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4152900" y="825500"/>
              <a:ext cx="1734256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6" id="16"/>
            <p:cNvSpPr/>
            <p:nvPr/>
          </p:nvSpPr>
          <p:spPr>
            <a:xfrm flipH="true" flipV="true">
              <a:off x="4189242" y="4969412"/>
              <a:ext cx="1734256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17" id="17"/>
            <p:cNvGrpSpPr/>
            <p:nvPr/>
          </p:nvGrpSpPr>
          <p:grpSpPr>
            <a:xfrm rot="0">
              <a:off x="0" y="25400"/>
              <a:ext cx="4114800" cy="1600200"/>
              <a:chOff x="0" y="0"/>
              <a:chExt cx="812800" cy="31608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316089"/>
              </a:xfrm>
              <a:custGeom>
                <a:avLst/>
                <a:gdLst/>
                <a:ahLst/>
                <a:cxnLst/>
                <a:rect r="r" b="b" t="t" l="l"/>
                <a:pathLst>
                  <a:path h="316089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88148"/>
                    </a:lnTo>
                    <a:cubicBezTo>
                      <a:pt x="812800" y="222080"/>
                      <a:pt x="799321" y="254622"/>
                      <a:pt x="775327" y="278616"/>
                    </a:cubicBezTo>
                    <a:cubicBezTo>
                      <a:pt x="751333" y="302609"/>
                      <a:pt x="718791" y="316089"/>
                      <a:pt x="684859" y="316089"/>
                    </a:cubicBezTo>
                    <a:lnTo>
                      <a:pt x="127941" y="316089"/>
                    </a:lnTo>
                    <a:cubicBezTo>
                      <a:pt x="94009" y="316089"/>
                      <a:pt x="61467" y="302609"/>
                      <a:pt x="37473" y="278616"/>
                    </a:cubicBezTo>
                    <a:cubicBezTo>
                      <a:pt x="13479" y="254622"/>
                      <a:pt x="0" y="222080"/>
                      <a:pt x="0" y="188148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812800" cy="3446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363113" y="617855"/>
              <a:ext cx="1388573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Entradas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74442" y="4114800"/>
              <a:ext cx="4114800" cy="1600200"/>
              <a:chOff x="0" y="0"/>
              <a:chExt cx="812800" cy="31608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316089"/>
              </a:xfrm>
              <a:custGeom>
                <a:avLst/>
                <a:gdLst/>
                <a:ahLst/>
                <a:cxnLst/>
                <a:rect r="r" b="b" t="t" l="l"/>
                <a:pathLst>
                  <a:path h="316089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88148"/>
                    </a:lnTo>
                    <a:cubicBezTo>
                      <a:pt x="812800" y="222080"/>
                      <a:pt x="799321" y="254622"/>
                      <a:pt x="775327" y="278616"/>
                    </a:cubicBezTo>
                    <a:cubicBezTo>
                      <a:pt x="751333" y="302609"/>
                      <a:pt x="718791" y="316089"/>
                      <a:pt x="684859" y="316089"/>
                    </a:cubicBezTo>
                    <a:lnTo>
                      <a:pt x="127941" y="316089"/>
                    </a:lnTo>
                    <a:cubicBezTo>
                      <a:pt x="94009" y="316089"/>
                      <a:pt x="61467" y="302609"/>
                      <a:pt x="37473" y="278616"/>
                    </a:cubicBezTo>
                    <a:cubicBezTo>
                      <a:pt x="13479" y="254622"/>
                      <a:pt x="0" y="222080"/>
                      <a:pt x="0" y="188148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28575"/>
                <a:ext cx="812800" cy="3446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632967" y="4761767"/>
              <a:ext cx="997749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Saídas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01940" y="3602740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_build_model()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Monta a MobileNetV2 com a mesma cabeça nos dois ramos.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 única diferença é weights="imagenet" contra None.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01940" y="5035300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_epoch_training_data()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Embaralha e aplica flip e brilho a cada época, de forma idêntica nos dois ramos.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01940" y="2480710"/>
            <a:ext cx="8115300" cy="71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_run_branch() 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Treina 100 épocas e guarda os pesos da melhor validação.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1940" y="6315460"/>
            <a:ext cx="8115300" cy="71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_metrics()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Av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alia no teste e calcula F1 macro e acurácia.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01940" y="7433695"/>
            <a:ext cx="81153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Saídas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artifacts/results/pair-SEED/result.json, com as métricas dos dois ramos para cada seed.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Esses arquivos alimentam o analysis.py.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Manuela Cavalcanti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837663"/>
            <a:ext cx="10287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17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Estruturação Código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1163574"/>
            <a:ext cx="237446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gradcam.py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730577" y="3198895"/>
            <a:ext cx="7528723" cy="4770999"/>
            <a:chOff x="0" y="0"/>
            <a:chExt cx="10038297" cy="636133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5923497" y="0"/>
              <a:ext cx="4114800" cy="1600200"/>
              <a:chOff x="0" y="0"/>
              <a:chExt cx="812800" cy="31608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316089"/>
              </a:xfrm>
              <a:custGeom>
                <a:avLst/>
                <a:gdLst/>
                <a:ahLst/>
                <a:cxnLst/>
                <a:rect r="r" b="b" t="t" l="l"/>
                <a:pathLst>
                  <a:path h="316089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88148"/>
                    </a:lnTo>
                    <a:cubicBezTo>
                      <a:pt x="812800" y="222080"/>
                      <a:pt x="799321" y="254622"/>
                      <a:pt x="775327" y="278616"/>
                    </a:cubicBezTo>
                    <a:cubicBezTo>
                      <a:pt x="751333" y="302609"/>
                      <a:pt x="718791" y="316089"/>
                      <a:pt x="684859" y="316089"/>
                    </a:cubicBezTo>
                    <a:lnTo>
                      <a:pt x="127941" y="316089"/>
                    </a:lnTo>
                    <a:cubicBezTo>
                      <a:pt x="94009" y="316089"/>
                      <a:pt x="61467" y="302609"/>
                      <a:pt x="37473" y="278616"/>
                    </a:cubicBezTo>
                    <a:cubicBezTo>
                      <a:pt x="13479" y="254622"/>
                      <a:pt x="0" y="222080"/>
                      <a:pt x="0" y="188148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812800" cy="3446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6430520" y="408305"/>
              <a:ext cx="3100754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run_gradcam()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_fixed_examples()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5923497" y="3526692"/>
              <a:ext cx="4114800" cy="2834640"/>
              <a:chOff x="0" y="0"/>
              <a:chExt cx="812800" cy="55992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559929"/>
              </a:xfrm>
              <a:custGeom>
                <a:avLst/>
                <a:gdLst/>
                <a:ahLst/>
                <a:cxnLst/>
                <a:rect r="r" b="b" t="t" l="l"/>
                <a:pathLst>
                  <a:path h="559929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431988"/>
                    </a:lnTo>
                    <a:cubicBezTo>
                      <a:pt x="812800" y="465920"/>
                      <a:pt x="799321" y="498462"/>
                      <a:pt x="775327" y="522456"/>
                    </a:cubicBezTo>
                    <a:cubicBezTo>
                      <a:pt x="751333" y="546449"/>
                      <a:pt x="718791" y="559929"/>
                      <a:pt x="684859" y="559929"/>
                    </a:cubicBezTo>
                    <a:lnTo>
                      <a:pt x="127941" y="559929"/>
                    </a:lnTo>
                    <a:cubicBezTo>
                      <a:pt x="94009" y="559929"/>
                      <a:pt x="61467" y="546449"/>
                      <a:pt x="37473" y="522456"/>
                    </a:cubicBezTo>
                    <a:cubicBezTo>
                      <a:pt x="13479" y="498462"/>
                      <a:pt x="0" y="465920"/>
                      <a:pt x="0" y="431988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812800" cy="5885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6309551" y="4107717"/>
              <a:ext cx="3342693" cy="16440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_gradcam</a:t>
              </a: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_map()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_panel()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_write_json(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7980897" y="1600200"/>
              <a:ext cx="0" cy="1926492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4152900" y="825500"/>
              <a:ext cx="1734256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6" id="16"/>
            <p:cNvSpPr/>
            <p:nvPr/>
          </p:nvSpPr>
          <p:spPr>
            <a:xfrm flipH="true" flipV="true">
              <a:off x="4189242" y="4969412"/>
              <a:ext cx="1734256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17" id="17"/>
            <p:cNvGrpSpPr/>
            <p:nvPr/>
          </p:nvGrpSpPr>
          <p:grpSpPr>
            <a:xfrm rot="0">
              <a:off x="0" y="25400"/>
              <a:ext cx="4114800" cy="1600200"/>
              <a:chOff x="0" y="0"/>
              <a:chExt cx="812800" cy="31608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316089"/>
              </a:xfrm>
              <a:custGeom>
                <a:avLst/>
                <a:gdLst/>
                <a:ahLst/>
                <a:cxnLst/>
                <a:rect r="r" b="b" t="t" l="l"/>
                <a:pathLst>
                  <a:path h="316089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88148"/>
                    </a:lnTo>
                    <a:cubicBezTo>
                      <a:pt x="812800" y="222080"/>
                      <a:pt x="799321" y="254622"/>
                      <a:pt x="775327" y="278616"/>
                    </a:cubicBezTo>
                    <a:cubicBezTo>
                      <a:pt x="751333" y="302609"/>
                      <a:pt x="718791" y="316089"/>
                      <a:pt x="684859" y="316089"/>
                    </a:cubicBezTo>
                    <a:lnTo>
                      <a:pt x="127941" y="316089"/>
                    </a:lnTo>
                    <a:cubicBezTo>
                      <a:pt x="94009" y="316089"/>
                      <a:pt x="61467" y="302609"/>
                      <a:pt x="37473" y="278616"/>
                    </a:cubicBezTo>
                    <a:cubicBezTo>
                      <a:pt x="13479" y="254622"/>
                      <a:pt x="0" y="222080"/>
                      <a:pt x="0" y="188148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812800" cy="3446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363113" y="617855"/>
              <a:ext cx="1388573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Entradas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74442" y="4114800"/>
              <a:ext cx="4114800" cy="1600200"/>
              <a:chOff x="0" y="0"/>
              <a:chExt cx="812800" cy="31608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316089"/>
              </a:xfrm>
              <a:custGeom>
                <a:avLst/>
                <a:gdLst/>
                <a:ahLst/>
                <a:cxnLst/>
                <a:rect r="r" b="b" t="t" l="l"/>
                <a:pathLst>
                  <a:path h="316089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88148"/>
                    </a:lnTo>
                    <a:cubicBezTo>
                      <a:pt x="812800" y="222080"/>
                      <a:pt x="799321" y="254622"/>
                      <a:pt x="775327" y="278616"/>
                    </a:cubicBezTo>
                    <a:cubicBezTo>
                      <a:pt x="751333" y="302609"/>
                      <a:pt x="718791" y="316089"/>
                      <a:pt x="684859" y="316089"/>
                    </a:cubicBezTo>
                    <a:lnTo>
                      <a:pt x="127941" y="316089"/>
                    </a:lnTo>
                    <a:cubicBezTo>
                      <a:pt x="94009" y="316089"/>
                      <a:pt x="61467" y="302609"/>
                      <a:pt x="37473" y="278616"/>
                    </a:cubicBezTo>
                    <a:cubicBezTo>
                      <a:pt x="13479" y="254622"/>
                      <a:pt x="0" y="222080"/>
                      <a:pt x="0" y="188148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2F2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28575"/>
                <a:ext cx="812800" cy="3446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632967" y="4761767"/>
              <a:ext cx="997749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Saídas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51311" y="1848356"/>
            <a:ext cx="6864263" cy="830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8282" indent="-219141" lvl="1">
              <a:lnSpc>
                <a:spcPts val="2842"/>
              </a:lnSpc>
              <a:buFont typeface="Arial"/>
              <a:buChar char="•"/>
            </a:pPr>
            <a:r>
              <a:rPr lang="en-US" b="true" sz="203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Entrada:</a:t>
            </a:r>
          </a:p>
          <a:p>
            <a:pPr algn="l" marL="657429" indent="-219143" lvl="2">
              <a:lnSpc>
                <a:spcPts val="2131"/>
              </a:lnSpc>
              <a:buFont typeface="Arial"/>
              <a:buChar char="⚬"/>
            </a:pP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Checkpoints dos 60 treinos (peso das melhores validação).</a:t>
            </a:r>
          </a:p>
          <a:p>
            <a:pPr algn="l" marL="657429" indent="-219143" lvl="2">
              <a:lnSpc>
                <a:spcPts val="2131"/>
              </a:lnSpc>
              <a:buFont typeface="Arial"/>
              <a:buChar char="⚬"/>
            </a:pP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protocol.json e imagens segmentadas (make prepare).</a:t>
            </a:r>
          </a:p>
          <a:p>
            <a:pPr algn="l" marL="657429" indent="-219143" lvl="2">
              <a:lnSpc>
                <a:spcPts val="2131"/>
              </a:lnSpc>
              <a:buFont typeface="Arial"/>
              <a:buChar char="⚬"/>
            </a:pP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 imagens fixas de teste (original e segmentada).</a:t>
            </a:r>
          </a:p>
          <a:p>
            <a:pPr algn="l" marL="438282" indent="-219141" lvl="1">
              <a:lnSpc>
                <a:spcPts val="2842"/>
              </a:lnSpc>
              <a:buFont typeface="Arial"/>
              <a:buChar char="•"/>
            </a:pPr>
            <a:r>
              <a:rPr lang="en-US" b="true" sz="203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run_gradcam()</a:t>
            </a:r>
          </a:p>
          <a:p>
            <a:pPr algn="l" marL="657417" indent="-219139" lvl="2">
              <a:lnSpc>
                <a:spcPts val="2131"/>
              </a:lnSpc>
              <a:buFont typeface="Arial"/>
              <a:buChar char="⚬"/>
            </a:pP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Percor</a:t>
            </a: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 as 30 seeds e os 2 ramos, valida os checkpoints e carrega os pesos da melhor validação</a:t>
            </a:r>
          </a:p>
          <a:p>
            <a:pPr algn="l" marL="657417" indent="-219139" lvl="2">
              <a:lnSpc>
                <a:spcPts val="2131"/>
              </a:lnSpc>
              <a:buFont typeface="Arial"/>
              <a:buChar char="⚬"/>
            </a:pP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Para cada imagem fixa: prevê a classe, gera o mapa e grava o painel e o JSON</a:t>
            </a:r>
          </a:p>
          <a:p>
            <a:pPr algn="l" marL="438276" indent="-219138" lvl="1">
              <a:lnSpc>
                <a:spcPts val="2841"/>
              </a:lnSpc>
              <a:buFont typeface="Arial"/>
              <a:buChar char="•"/>
            </a:pPr>
            <a:r>
              <a:rPr lang="en-US" b="true" sz="202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_fixed_examples()</a:t>
            </a:r>
          </a:p>
          <a:p>
            <a:pPr algn="l" marL="657417" indent="-219139" lvl="2">
              <a:lnSpc>
                <a:spcPts val="2131"/>
              </a:lnSpc>
              <a:buFont typeface="Arial"/>
              <a:buChar char="⚬"/>
            </a:pP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Carrega as 3 imagens fixas de teste (test-0042, test-0085, test-0000), nas versões original e segmentada</a:t>
            </a:r>
          </a:p>
          <a:p>
            <a:pPr algn="l" marL="438276" indent="-219138" lvl="1">
              <a:lnSpc>
                <a:spcPts val="2841"/>
              </a:lnSpc>
              <a:buFont typeface="Arial"/>
              <a:buChar char="•"/>
            </a:pPr>
            <a:r>
              <a:rPr lang="en-US" b="true" sz="202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_gradcam_map()</a:t>
            </a:r>
          </a:p>
          <a:p>
            <a:pPr algn="l" marL="657417" indent="-219139" lvl="2">
              <a:lnSpc>
                <a:spcPts val="2131"/>
              </a:lnSpc>
              <a:buFont typeface="Arial"/>
              <a:buChar char="⚬"/>
            </a:pP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Cria um modelo temporário para capturar as ativações da ultima camada, probabilidade e calcula os gradientes da classe predita.</a:t>
            </a:r>
          </a:p>
          <a:p>
            <a:pPr algn="l" marL="657417" indent="-219139" lvl="2">
              <a:lnSpc>
                <a:spcPts val="2131"/>
              </a:lnSpc>
              <a:buFont typeface="Arial"/>
              <a:buChar char="⚬"/>
            </a:pP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Remove contribuições negativas e normaliza o mapa de calor em um intervalo de 0 a 1.</a:t>
            </a:r>
          </a:p>
          <a:p>
            <a:pPr algn="l" marL="438276" indent="-219138" lvl="1">
              <a:lnSpc>
                <a:spcPts val="2841"/>
              </a:lnSpc>
              <a:buFont typeface="Arial"/>
              <a:buChar char="•"/>
            </a:pPr>
            <a:r>
              <a:rPr lang="en-US" b="true" sz="202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_panel()</a:t>
            </a:r>
          </a:p>
          <a:p>
            <a:pPr algn="l" marL="657417" indent="-219139" lvl="2">
              <a:lnSpc>
                <a:spcPts val="2131"/>
              </a:lnSpc>
              <a:buFont typeface="Arial"/>
              <a:buChar char="⚬"/>
            </a:pP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Aplica a paleta de cores (JET) no mapa e o mescla com a imagem segmentada.</a:t>
            </a:r>
          </a:p>
          <a:p>
            <a:pPr algn="l" marL="657417" indent="-219139" lvl="2">
              <a:lnSpc>
                <a:spcPts val="2131"/>
              </a:lnSpc>
              <a:buFont typeface="Arial"/>
              <a:buChar char="⚬"/>
            </a:pP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Retorna a imagem final com três visões lado a lado: original, segmentada e sobreposição.</a:t>
            </a:r>
          </a:p>
          <a:p>
            <a:pPr algn="l" marL="479716" indent="-239858" lvl="1">
              <a:lnSpc>
                <a:spcPts val="3110"/>
              </a:lnSpc>
              <a:buFont typeface="Arial"/>
              <a:buChar char="•"/>
            </a:pPr>
            <a:r>
              <a:rPr lang="en-US" b="true" sz="222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write_json()</a:t>
            </a:r>
          </a:p>
          <a:p>
            <a:pPr algn="l" marL="639620" indent="-213207" lvl="2">
              <a:lnSpc>
                <a:spcPts val="2073"/>
              </a:lnSpc>
              <a:buFont typeface="Arial"/>
              <a:buChar char="⚬"/>
            </a:pPr>
            <a:r>
              <a:rPr lang="en-US" sz="148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Grava os metadados gerados (como a classe predita e os caminhos das imagens) e guarda-os no ficheiro diagnostic.json</a:t>
            </a:r>
          </a:p>
          <a:p>
            <a:pPr algn="l" marL="438276" indent="-219138" lvl="1">
              <a:lnSpc>
                <a:spcPts val="2841"/>
              </a:lnSpc>
              <a:buFont typeface="Arial"/>
              <a:buChar char="•"/>
            </a:pPr>
            <a:r>
              <a:rPr lang="en-US" b="true" sz="202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Saídas</a:t>
            </a:r>
          </a:p>
          <a:p>
            <a:pPr algn="l" marL="657417" indent="-219139" lvl="2">
              <a:lnSpc>
                <a:spcPts val="2131"/>
              </a:lnSpc>
              <a:buFont typeface="Arial"/>
              <a:buChar char="⚬"/>
            </a:pP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Imagens .png com os painéis visuais para cada seed, ramo e classe.</a:t>
            </a:r>
          </a:p>
          <a:p>
            <a:pPr algn="l" marL="657417" indent="-219139" lvl="2">
              <a:lnSpc>
                <a:spcPts val="2131"/>
              </a:lnSpc>
              <a:spcBef>
                <a:spcPct val="0"/>
              </a:spcBef>
              <a:buFont typeface="Arial"/>
              <a:buChar char="⚬"/>
            </a:pPr>
            <a:r>
              <a:rPr lang="en-US" sz="152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diagnostic.json contendo os metadados (como a classe predita) para auditoria.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Manuela Cavalcanti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Estruturação Código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1163574"/>
            <a:ext cx="228044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Analysis.py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33389" y="4215676"/>
            <a:ext cx="8115300" cy="71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Entradas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Artefatos .json dos 30 pares de simulações (pair-*/result.json)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0803" y="5322139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_read_results()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Lê e valida os arquivos de resultados dos 30 pares do protocolo.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Garante a ordenação estrita pelas seeds fixas (1001 a 1030)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4233" y="6745174"/>
            <a:ext cx="81153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_metric_summaries()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Consolida a média e o desvio-padrão de Acurácia e F1 macro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Agrupa os vetores de ambos os cenários (ImageNet vs. Aleatório)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640971" y="4894466"/>
            <a:ext cx="3086100" cy="1200150"/>
            <a:chOff x="0" y="0"/>
            <a:chExt cx="812800" cy="3160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640971" y="7539485"/>
            <a:ext cx="3086100" cy="1200150"/>
            <a:chOff x="0" y="0"/>
            <a:chExt cx="812800" cy="3160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912783" y="7977082"/>
            <a:ext cx="254247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_metric_summaries()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3184021" y="6094616"/>
            <a:ext cx="0" cy="144486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11640971" y="2226514"/>
            <a:ext cx="3086100" cy="1200150"/>
            <a:chOff x="0" y="0"/>
            <a:chExt cx="812800" cy="3160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912783" y="2663711"/>
            <a:ext cx="254247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Entradas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40971" y="5331664"/>
            <a:ext cx="254247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_read_results()</a:t>
            </a:r>
          </a:p>
        </p:txBody>
      </p:sp>
      <p:sp>
        <p:nvSpPr>
          <p:cNvPr name="AutoShape 21" id="21"/>
          <p:cNvSpPr/>
          <p:nvPr/>
        </p:nvSpPr>
        <p:spPr>
          <a:xfrm>
            <a:off x="13164971" y="3426664"/>
            <a:ext cx="0" cy="144486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2" id="22"/>
          <p:cNvSpPr/>
          <p:nvPr/>
        </p:nvSpPr>
        <p:spPr>
          <a:xfrm>
            <a:off x="14727053" y="8130235"/>
            <a:ext cx="471267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629549" y="1701419"/>
            <a:ext cx="0" cy="5250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4" id="24"/>
          <p:cNvSpPr/>
          <p:nvPr/>
        </p:nvSpPr>
        <p:spPr>
          <a:xfrm>
            <a:off x="679207" y="2140709"/>
            <a:ext cx="6541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5" id="25"/>
          <p:cNvSpPr txBox="true"/>
          <p:nvPr/>
        </p:nvSpPr>
        <p:spPr>
          <a:xfrm rot="0">
            <a:off x="1390803" y="1958594"/>
            <a:ext cx="7433572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É o "Cérebro Estatístico" do Experimento: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Responsável por ler e validar os dados brutos das 30 simulações pareadas, consolidar as métricas de desempenho (ImageNet vs. Pesos Aleatórios), executar os testes estatísticos de hipótese (</a:t>
            </a:r>
            <a:r>
              <a:rPr lang="en-US" sz="180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t 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pareado e IC de 95%) e exportar o relatório final em JSON que fundamenta o artigo.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Manuela Cavalcanti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79242" y="5056384"/>
            <a:ext cx="3086100" cy="1200150"/>
            <a:chOff x="0" y="0"/>
            <a:chExt cx="812800" cy="3160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079242" y="7701403"/>
            <a:ext cx="3086100" cy="1200150"/>
            <a:chOff x="0" y="0"/>
            <a:chExt cx="812800" cy="3160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079242" y="2388431"/>
            <a:ext cx="3086100" cy="1200150"/>
            <a:chOff x="0" y="0"/>
            <a:chExt cx="812800" cy="3160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316089"/>
            </a:xfrm>
            <a:custGeom>
              <a:avLst/>
              <a:gdLst/>
              <a:ahLst/>
              <a:cxnLst/>
              <a:rect r="r" b="b" t="t" l="l"/>
              <a:pathLst>
                <a:path h="3160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8148"/>
                  </a:lnTo>
                  <a:cubicBezTo>
                    <a:pt x="812800" y="222080"/>
                    <a:pt x="799321" y="254622"/>
                    <a:pt x="775327" y="278616"/>
                  </a:cubicBezTo>
                  <a:cubicBezTo>
                    <a:pt x="751333" y="302609"/>
                    <a:pt x="718791" y="316089"/>
                    <a:pt x="684859" y="316089"/>
                  </a:cubicBezTo>
                  <a:lnTo>
                    <a:pt x="127941" y="316089"/>
                  </a:lnTo>
                  <a:cubicBezTo>
                    <a:pt x="94009" y="316089"/>
                    <a:pt x="61467" y="302609"/>
                    <a:pt x="37473" y="278616"/>
                  </a:cubicBezTo>
                  <a:cubicBezTo>
                    <a:pt x="13479" y="254622"/>
                    <a:pt x="0" y="222080"/>
                    <a:pt x="0" y="1881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812800" cy="34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-1633491" y="8301478"/>
            <a:ext cx="471267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2" id="12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0581" y="227135"/>
            <a:ext cx="651227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Estruturação Código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0581" y="1163574"/>
            <a:ext cx="228044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Analysis.py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13065" y="5752661"/>
            <a:ext cx="81153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analyze()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Calcula a diferença ponto a ponto do F1 macro (d_i).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Executa o teste </a:t>
            </a:r>
            <a:r>
              <a:rPr lang="en-US" sz="180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t 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pareado bilateral via SciPy (ttest_rel).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7613065" y="4103561"/>
            <a:ext cx="862965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Saídas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Relatório em dicionário/JSON consolidando o resumo estatístico</a:t>
            </a:r>
          </a:p>
          <a:p>
            <a:pPr algn="l" marL="777240" indent="-259080" lvl="2">
              <a:lnSpc>
                <a:spcPts val="252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Métricas do teste </a:t>
            </a:r>
            <a:r>
              <a:rPr lang="en-US" sz="180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t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(estatística</a:t>
            </a:r>
            <a:r>
              <a:rPr lang="en-US" sz="1800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 t</a:t>
            </a: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e valor-p) e Intervalo de Confiança de 95%.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13065" y="7317944"/>
            <a:ext cx="8115300" cy="1661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_confidence_interval() &amp; _prediction_counts()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Estima o Intervalo de Confiança de 95% para a diferença pareada. 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Monitora a distribuição de classes para detectar o colapso de previsões.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351053" y="8138999"/>
            <a:ext cx="254247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_confidence_interval()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51053" y="2825629"/>
            <a:ext cx="254247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Saídas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51053" y="5493581"/>
            <a:ext cx="254247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analyze()</a:t>
            </a:r>
          </a:p>
        </p:txBody>
      </p:sp>
      <p:sp>
        <p:nvSpPr>
          <p:cNvPr name="AutoShape 21" id="21"/>
          <p:cNvSpPr/>
          <p:nvPr/>
        </p:nvSpPr>
        <p:spPr>
          <a:xfrm flipV="true">
            <a:off x="4622292" y="6256534"/>
            <a:ext cx="0" cy="144486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2" id="22"/>
          <p:cNvSpPr/>
          <p:nvPr/>
        </p:nvSpPr>
        <p:spPr>
          <a:xfrm flipV="true">
            <a:off x="4622292" y="3588581"/>
            <a:ext cx="0" cy="146780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2609846" y="1480121"/>
            <a:ext cx="471267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4" id="24"/>
          <p:cNvSpPr/>
          <p:nvPr/>
        </p:nvSpPr>
        <p:spPr>
          <a:xfrm>
            <a:off x="7254064" y="1547387"/>
            <a:ext cx="0" cy="84104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5" id="25"/>
          <p:cNvSpPr/>
          <p:nvPr/>
        </p:nvSpPr>
        <p:spPr>
          <a:xfrm>
            <a:off x="7322523" y="2299232"/>
            <a:ext cx="92917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6" id="26"/>
          <p:cNvSpPr txBox="true"/>
          <p:nvPr/>
        </p:nvSpPr>
        <p:spPr>
          <a:xfrm rot="0">
            <a:off x="8299326" y="2141099"/>
            <a:ext cx="8629650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Em suma o arquivo garante a validade científica do experimento ao transformar os dados brutos das simulações em provas estatísticas reais, confirmando com mais de 99,9% de certeza (p &lt; 0,001) que a inicialização com ImageNet é essencial para o modelo acertar o diagnóstico das doenças nas folhas.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Manuela Cavalcanti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21486"/>
            <a:ext cx="18288000" cy="10551469"/>
          </a:xfrm>
          <a:custGeom>
            <a:avLst/>
            <a:gdLst/>
            <a:ahLst/>
            <a:cxnLst/>
            <a:rect r="r" b="b" t="t" l="l"/>
            <a:pathLst>
              <a:path h="10551469" w="18288000">
                <a:moveTo>
                  <a:pt x="0" y="0"/>
                </a:moveTo>
                <a:lnTo>
                  <a:pt x="18288000" y="0"/>
                </a:lnTo>
                <a:lnTo>
                  <a:pt x="18288000" y="10551469"/>
                </a:lnTo>
                <a:lnTo>
                  <a:pt x="0" y="10551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16" t="-1785" r="-148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Estruturação Código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0581" y="1163574"/>
            <a:ext cx="228044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Analysis.py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Manuela Cavalcanti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Análise de Dados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Visão geral do experimento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4128" y="2240280"/>
            <a:ext cx="5193792" cy="3108960"/>
            <a:chOff x="0" y="0"/>
            <a:chExt cx="6925056" cy="4145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25056" cy="4145280"/>
            </a:xfrm>
            <a:custGeom>
              <a:avLst/>
              <a:gdLst/>
              <a:ahLst/>
              <a:cxnLst/>
              <a:rect r="r" b="b" t="t" l="l"/>
              <a:pathLst>
                <a:path h="4145280" w="6925056">
                  <a:moveTo>
                    <a:pt x="0" y="497459"/>
                  </a:moveTo>
                  <a:cubicBezTo>
                    <a:pt x="0" y="222758"/>
                    <a:pt x="222758" y="0"/>
                    <a:pt x="497459" y="0"/>
                  </a:cubicBezTo>
                  <a:lnTo>
                    <a:pt x="6427597" y="0"/>
                  </a:lnTo>
                  <a:cubicBezTo>
                    <a:pt x="6702298" y="0"/>
                    <a:pt x="6925056" y="222758"/>
                    <a:pt x="6925056" y="497459"/>
                  </a:cubicBezTo>
                  <a:lnTo>
                    <a:pt x="6925056" y="3647821"/>
                  </a:lnTo>
                  <a:cubicBezTo>
                    <a:pt x="6925056" y="3922522"/>
                    <a:pt x="6702298" y="4145280"/>
                    <a:pt x="6427597" y="4145280"/>
                  </a:cubicBezTo>
                  <a:lnTo>
                    <a:pt x="497459" y="4145280"/>
                  </a:lnTo>
                  <a:cubicBezTo>
                    <a:pt x="222758" y="4145280"/>
                    <a:pt x="0" y="3922522"/>
                    <a:pt x="0" y="3647821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81328" y="2377440"/>
            <a:ext cx="4480560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96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30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1328" y="3987165"/>
            <a:ext cx="4480560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simulações pareadas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1328" y="4535805"/>
            <a:ext cx="448056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seeds 1001 a 1030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547104" y="2240280"/>
            <a:ext cx="5193792" cy="3108960"/>
            <a:chOff x="0" y="0"/>
            <a:chExt cx="6925056" cy="4145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25056" cy="4145280"/>
            </a:xfrm>
            <a:custGeom>
              <a:avLst/>
              <a:gdLst/>
              <a:ahLst/>
              <a:cxnLst/>
              <a:rect r="r" b="b" t="t" l="l"/>
              <a:pathLst>
                <a:path h="4145280" w="6925056">
                  <a:moveTo>
                    <a:pt x="0" y="497459"/>
                  </a:moveTo>
                  <a:cubicBezTo>
                    <a:pt x="0" y="222758"/>
                    <a:pt x="222758" y="0"/>
                    <a:pt x="497459" y="0"/>
                  </a:cubicBezTo>
                  <a:lnTo>
                    <a:pt x="6427597" y="0"/>
                  </a:lnTo>
                  <a:cubicBezTo>
                    <a:pt x="6702298" y="0"/>
                    <a:pt x="6925056" y="222758"/>
                    <a:pt x="6925056" y="497459"/>
                  </a:cubicBezTo>
                  <a:lnTo>
                    <a:pt x="6925056" y="3647821"/>
                  </a:lnTo>
                  <a:cubicBezTo>
                    <a:pt x="6925056" y="3922522"/>
                    <a:pt x="6702298" y="4145280"/>
                    <a:pt x="6427597" y="4145280"/>
                  </a:cubicBezTo>
                  <a:lnTo>
                    <a:pt x="497459" y="4145280"/>
                  </a:lnTo>
                  <a:cubicBezTo>
                    <a:pt x="222758" y="4145280"/>
                    <a:pt x="0" y="3922522"/>
                    <a:pt x="0" y="3647821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004304" y="2377440"/>
            <a:ext cx="4480560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96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60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04304" y="3987165"/>
            <a:ext cx="4480560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treinamentos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04304" y="4535805"/>
            <a:ext cx="448056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100 épocas cada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070080" y="2240280"/>
            <a:ext cx="5193792" cy="3108960"/>
            <a:chOff x="0" y="0"/>
            <a:chExt cx="6925056" cy="4145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25056" cy="4145280"/>
            </a:xfrm>
            <a:custGeom>
              <a:avLst/>
              <a:gdLst/>
              <a:ahLst/>
              <a:cxnLst/>
              <a:rect r="r" b="b" t="t" l="l"/>
              <a:pathLst>
                <a:path h="4145280" w="6925056">
                  <a:moveTo>
                    <a:pt x="0" y="497459"/>
                  </a:moveTo>
                  <a:cubicBezTo>
                    <a:pt x="0" y="222758"/>
                    <a:pt x="222758" y="0"/>
                    <a:pt x="497459" y="0"/>
                  </a:cubicBezTo>
                  <a:lnTo>
                    <a:pt x="6427597" y="0"/>
                  </a:lnTo>
                  <a:cubicBezTo>
                    <a:pt x="6702298" y="0"/>
                    <a:pt x="6925056" y="222758"/>
                    <a:pt x="6925056" y="497459"/>
                  </a:cubicBezTo>
                  <a:lnTo>
                    <a:pt x="6925056" y="3647821"/>
                  </a:lnTo>
                  <a:cubicBezTo>
                    <a:pt x="6925056" y="3922522"/>
                    <a:pt x="6702298" y="4145280"/>
                    <a:pt x="6427597" y="4145280"/>
                  </a:cubicBezTo>
                  <a:lnTo>
                    <a:pt x="497459" y="4145280"/>
                  </a:lnTo>
                  <a:cubicBezTo>
                    <a:pt x="222758" y="4145280"/>
                    <a:pt x="0" y="3922522"/>
                    <a:pt x="0" y="3647821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527280" y="2377440"/>
            <a:ext cx="4480560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96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128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27280" y="3987165"/>
            <a:ext cx="4480560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imagens de teste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27280" y="4535805"/>
            <a:ext cx="448056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conjunto oficial do Beans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4128" y="5897880"/>
            <a:ext cx="4846320" cy="1325880"/>
            <a:chOff x="0" y="0"/>
            <a:chExt cx="6461760" cy="1767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61760" cy="1767840"/>
            </a:xfrm>
            <a:custGeom>
              <a:avLst/>
              <a:gdLst/>
              <a:ahLst/>
              <a:cxnLst/>
              <a:rect r="r" b="b" t="t" l="l"/>
              <a:pathLst>
                <a:path h="1767840" w="6461760">
                  <a:moveTo>
                    <a:pt x="0" y="212090"/>
                  </a:moveTo>
                  <a:cubicBezTo>
                    <a:pt x="0" y="94996"/>
                    <a:pt x="94996" y="0"/>
                    <a:pt x="212090" y="0"/>
                  </a:cubicBezTo>
                  <a:lnTo>
                    <a:pt x="6249670" y="0"/>
                  </a:lnTo>
                  <a:cubicBezTo>
                    <a:pt x="6366891" y="0"/>
                    <a:pt x="6461760" y="94996"/>
                    <a:pt x="6461760" y="212090"/>
                  </a:cubicBezTo>
                  <a:lnTo>
                    <a:pt x="6461760" y="1555750"/>
                  </a:lnTo>
                  <a:cubicBezTo>
                    <a:pt x="6461760" y="1672971"/>
                    <a:pt x="6366764" y="1767840"/>
                    <a:pt x="6249670" y="1767840"/>
                  </a:cubicBezTo>
                  <a:lnTo>
                    <a:pt x="212090" y="1767840"/>
                  </a:lnTo>
                  <a:cubicBezTo>
                    <a:pt x="94996" y="1767840"/>
                    <a:pt x="0" y="1672844"/>
                    <a:pt x="0" y="155575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98448" y="5897880"/>
            <a:ext cx="4297680" cy="1325880"/>
            <a:chOff x="0" y="0"/>
            <a:chExt cx="5730240" cy="1767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30240" cy="1767840"/>
            </a:xfrm>
            <a:custGeom>
              <a:avLst/>
              <a:gdLst/>
              <a:ahLst/>
              <a:cxnLst/>
              <a:rect r="r" b="b" t="t" l="l"/>
              <a:pathLst>
                <a:path h="176784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767840"/>
                  </a:lnTo>
                  <a:lnTo>
                    <a:pt x="0" y="1767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58" r="0" b="-1315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5730240" cy="1758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Seed s</a:t>
              </a:r>
            </a:p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6B6B6B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mesmos dados, aumentos e dropout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rot="105180">
            <a:off x="6037212" y="6541960"/>
            <a:ext cx="1038073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5" id="25"/>
          <p:cNvGrpSpPr/>
          <p:nvPr/>
        </p:nvGrpSpPr>
        <p:grpSpPr>
          <a:xfrm rot="0">
            <a:off x="7269480" y="6035040"/>
            <a:ext cx="3566160" cy="1051560"/>
            <a:chOff x="0" y="0"/>
            <a:chExt cx="4754880" cy="1402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54880" cy="1402080"/>
            </a:xfrm>
            <a:custGeom>
              <a:avLst/>
              <a:gdLst/>
              <a:ahLst/>
              <a:cxnLst/>
              <a:rect r="r" b="b" t="t" l="l"/>
              <a:pathLst>
                <a:path h="1402080" w="4754880">
                  <a:moveTo>
                    <a:pt x="0" y="701040"/>
                  </a:moveTo>
                  <a:cubicBezTo>
                    <a:pt x="0" y="313817"/>
                    <a:pt x="313817" y="0"/>
                    <a:pt x="701040" y="0"/>
                  </a:cubicBezTo>
                  <a:lnTo>
                    <a:pt x="4053840" y="0"/>
                  </a:lnTo>
                  <a:cubicBezTo>
                    <a:pt x="4441063" y="0"/>
                    <a:pt x="4754880" y="313817"/>
                    <a:pt x="4754880" y="701040"/>
                  </a:cubicBezTo>
                  <a:cubicBezTo>
                    <a:pt x="4754880" y="1088263"/>
                    <a:pt x="4441063" y="1402080"/>
                    <a:pt x="4053840" y="1402080"/>
                  </a:cubicBezTo>
                  <a:lnTo>
                    <a:pt x="701040" y="1402080"/>
                  </a:lnTo>
                  <a:cubicBezTo>
                    <a:pt x="313817" y="1402080"/>
                    <a:pt x="0" y="1088263"/>
                    <a:pt x="0" y="70104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269480" y="6035040"/>
            <a:ext cx="3566160" cy="1051560"/>
            <a:chOff x="0" y="0"/>
            <a:chExt cx="4754880" cy="1402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54880" cy="1402080"/>
            </a:xfrm>
            <a:custGeom>
              <a:avLst/>
              <a:gdLst/>
              <a:ahLst/>
              <a:cxnLst/>
              <a:rect r="r" b="b" t="t" l="l"/>
              <a:pathLst>
                <a:path h="1402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402080"/>
                  </a:lnTo>
                  <a:lnTo>
                    <a:pt x="0" y="1402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79" r="0" b="-1607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4754880" cy="1392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ImageNet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064240" y="6035040"/>
            <a:ext cx="3566160" cy="1051560"/>
            <a:chOff x="0" y="0"/>
            <a:chExt cx="4754880" cy="1402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54880" cy="1402080"/>
            </a:xfrm>
            <a:custGeom>
              <a:avLst/>
              <a:gdLst/>
              <a:ahLst/>
              <a:cxnLst/>
              <a:rect r="r" b="b" t="t" l="l"/>
              <a:pathLst>
                <a:path h="1402080" w="4754880">
                  <a:moveTo>
                    <a:pt x="0" y="701040"/>
                  </a:moveTo>
                  <a:cubicBezTo>
                    <a:pt x="0" y="313817"/>
                    <a:pt x="313817" y="0"/>
                    <a:pt x="701040" y="0"/>
                  </a:cubicBezTo>
                  <a:lnTo>
                    <a:pt x="4053840" y="0"/>
                  </a:lnTo>
                  <a:cubicBezTo>
                    <a:pt x="4441063" y="0"/>
                    <a:pt x="4754880" y="313817"/>
                    <a:pt x="4754880" y="701040"/>
                  </a:cubicBezTo>
                  <a:cubicBezTo>
                    <a:pt x="4754880" y="1088263"/>
                    <a:pt x="4441063" y="1402080"/>
                    <a:pt x="4053840" y="1402080"/>
                  </a:cubicBezTo>
                  <a:lnTo>
                    <a:pt x="701040" y="1402080"/>
                  </a:lnTo>
                  <a:cubicBezTo>
                    <a:pt x="313817" y="1402080"/>
                    <a:pt x="0" y="1088263"/>
                    <a:pt x="0" y="701040"/>
                  </a:cubicBezTo>
                  <a:close/>
                </a:path>
              </a:pathLst>
            </a:custGeom>
            <a:solidFill>
              <a:srgbClr val="8C8C8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064240" y="6035040"/>
            <a:ext cx="3566160" cy="1051560"/>
            <a:chOff x="0" y="0"/>
            <a:chExt cx="4754880" cy="1402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54880" cy="1402080"/>
            </a:xfrm>
            <a:custGeom>
              <a:avLst/>
              <a:gdLst/>
              <a:ahLst/>
              <a:cxnLst/>
              <a:rect r="r" b="b" t="t" l="l"/>
              <a:pathLst>
                <a:path h="1402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402080"/>
                  </a:lnTo>
                  <a:lnTo>
                    <a:pt x="0" y="1402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79" r="0" b="-1607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9525"/>
              <a:ext cx="4754880" cy="1392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Pesos aleatórios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041880" y="5897880"/>
            <a:ext cx="2221992" cy="1325880"/>
            <a:chOff x="0" y="0"/>
            <a:chExt cx="2962656" cy="1767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962656" cy="1767840"/>
            </a:xfrm>
            <a:custGeom>
              <a:avLst/>
              <a:gdLst/>
              <a:ahLst/>
              <a:cxnLst/>
              <a:rect r="r" b="b" t="t" l="l"/>
              <a:pathLst>
                <a:path h="176784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1767840"/>
                  </a:lnTo>
                  <a:lnTo>
                    <a:pt x="0" y="1767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559" t="0" r="-26559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14300"/>
              <a:ext cx="2962656" cy="1882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 30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24128" y="8010525"/>
            <a:ext cx="16239744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Métrica: </a:t>
            </a: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F1 macro</a:t>
            </a:r>
            <a:r>
              <a:rPr lang="en-US" sz="24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     ·      Teste: </a:t>
            </a: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 pareado bilateral, α = 0,05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Rafael Barros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Análise de Dados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Desempenho: ImageNet vs. pesos aleatórios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0147" y="1739870"/>
            <a:ext cx="9840830" cy="8155238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6537960" y="3246120"/>
            <a:ext cx="2651760" cy="777240"/>
            <a:chOff x="0" y="0"/>
            <a:chExt cx="3535680" cy="1036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35680" cy="1036320"/>
            </a:xfrm>
            <a:custGeom>
              <a:avLst/>
              <a:gdLst/>
              <a:ahLst/>
              <a:cxnLst/>
              <a:rect r="r" b="b" t="t" l="l"/>
              <a:pathLst>
                <a:path h="1036320" w="3535680">
                  <a:moveTo>
                    <a:pt x="0" y="518160"/>
                  </a:moveTo>
                  <a:cubicBezTo>
                    <a:pt x="0" y="232029"/>
                    <a:pt x="232029" y="0"/>
                    <a:pt x="518160" y="0"/>
                  </a:cubicBezTo>
                  <a:lnTo>
                    <a:pt x="3017520" y="0"/>
                  </a:lnTo>
                  <a:cubicBezTo>
                    <a:pt x="3303651" y="0"/>
                    <a:pt x="3535680" y="232029"/>
                    <a:pt x="3535680" y="518160"/>
                  </a:cubicBezTo>
                  <a:cubicBezTo>
                    <a:pt x="3535680" y="804291"/>
                    <a:pt x="3303651" y="1036320"/>
                    <a:pt x="3017520" y="1036320"/>
                  </a:cubicBezTo>
                  <a:lnTo>
                    <a:pt x="518160" y="1036320"/>
                  </a:lnTo>
                  <a:cubicBezTo>
                    <a:pt x="232029" y="1036320"/>
                    <a:pt x="0" y="804291"/>
                    <a:pt x="0" y="51816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537960" y="3246120"/>
            <a:ext cx="2651760" cy="777240"/>
            <a:chOff x="0" y="0"/>
            <a:chExt cx="3535680" cy="10363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35680" cy="1036320"/>
            </a:xfrm>
            <a:custGeom>
              <a:avLst/>
              <a:gdLst/>
              <a:ahLst/>
              <a:cxnLst/>
              <a:rect r="r" b="b" t="t" l="l"/>
              <a:pathLst>
                <a:path h="103632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036320"/>
                  </a:lnTo>
                  <a:lnTo>
                    <a:pt x="0" y="1036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78" r="0" b="-1647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3535680" cy="1026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Δ = +0,770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66960" y="2194560"/>
            <a:ext cx="7296912" cy="3383280"/>
            <a:chOff x="0" y="0"/>
            <a:chExt cx="9729216" cy="451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29216" cy="4511040"/>
            </a:xfrm>
            <a:custGeom>
              <a:avLst/>
              <a:gdLst/>
              <a:ahLst/>
              <a:cxnLst/>
              <a:rect r="r" b="b" t="t" l="l"/>
              <a:pathLst>
                <a:path h="4511040" w="9729216">
                  <a:moveTo>
                    <a:pt x="0" y="541274"/>
                  </a:moveTo>
                  <a:cubicBezTo>
                    <a:pt x="0" y="242316"/>
                    <a:pt x="242316" y="0"/>
                    <a:pt x="541274" y="0"/>
                  </a:cubicBezTo>
                  <a:lnTo>
                    <a:pt x="9187942" y="0"/>
                  </a:lnTo>
                  <a:cubicBezTo>
                    <a:pt x="9486900" y="0"/>
                    <a:pt x="9729216" y="242316"/>
                    <a:pt x="9729216" y="541274"/>
                  </a:cubicBezTo>
                  <a:lnTo>
                    <a:pt x="9729216" y="3969766"/>
                  </a:lnTo>
                  <a:cubicBezTo>
                    <a:pt x="9729216" y="4268724"/>
                    <a:pt x="9486900" y="4511040"/>
                    <a:pt x="9187942" y="4511040"/>
                  </a:cubicBezTo>
                  <a:lnTo>
                    <a:pt x="541274" y="4511040"/>
                  </a:lnTo>
                  <a:cubicBezTo>
                    <a:pt x="242316" y="4511040"/>
                    <a:pt x="0" y="4268724"/>
                    <a:pt x="0" y="396976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424160" y="2651760"/>
            <a:ext cx="274320" cy="274320"/>
            <a:chOff x="0" y="0"/>
            <a:chExt cx="365760" cy="365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881360" y="2560320"/>
            <a:ext cx="61264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ImageNet  ·  solução principal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424160" y="3108960"/>
            <a:ext cx="3840480" cy="1370521"/>
            <a:chOff x="0" y="0"/>
            <a:chExt cx="5120640" cy="18273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20640" cy="1827361"/>
            </a:xfrm>
            <a:custGeom>
              <a:avLst/>
              <a:gdLst/>
              <a:ahLst/>
              <a:cxnLst/>
              <a:rect r="r" b="b" t="t" l="l"/>
              <a:pathLst>
                <a:path h="1827361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827361"/>
                  </a:lnTo>
                  <a:lnTo>
                    <a:pt x="0" y="18273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65" r="0" b="36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120640" cy="182736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>
                  <a:solidFill>
                    <a:srgbClr val="6B6B6B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F1 </a:t>
              </a:r>
              <a:r>
                <a:rPr lang="en-US" sz="6600" b="true">
                  <a:solidFill>
                    <a:srgbClr val="2D6A4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0,938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264640" y="3682365"/>
            <a:ext cx="27432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± 0,023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24160" y="4490085"/>
            <a:ext cx="6583680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Acurácia 0,939 ± 0,022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F1 por seed: de 0,872 a 0,977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66960" y="5852160"/>
            <a:ext cx="7296912" cy="3383280"/>
            <a:chOff x="0" y="0"/>
            <a:chExt cx="9729216" cy="4511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29216" cy="4511040"/>
            </a:xfrm>
            <a:custGeom>
              <a:avLst/>
              <a:gdLst/>
              <a:ahLst/>
              <a:cxnLst/>
              <a:rect r="r" b="b" t="t" l="l"/>
              <a:pathLst>
                <a:path h="4511040" w="9729216">
                  <a:moveTo>
                    <a:pt x="0" y="541274"/>
                  </a:moveTo>
                  <a:cubicBezTo>
                    <a:pt x="0" y="242316"/>
                    <a:pt x="242316" y="0"/>
                    <a:pt x="541274" y="0"/>
                  </a:cubicBezTo>
                  <a:lnTo>
                    <a:pt x="9187942" y="0"/>
                  </a:lnTo>
                  <a:cubicBezTo>
                    <a:pt x="9486900" y="0"/>
                    <a:pt x="9729216" y="242316"/>
                    <a:pt x="9729216" y="541274"/>
                  </a:cubicBezTo>
                  <a:lnTo>
                    <a:pt x="9729216" y="3969766"/>
                  </a:lnTo>
                  <a:cubicBezTo>
                    <a:pt x="9729216" y="4268724"/>
                    <a:pt x="9486900" y="4511040"/>
                    <a:pt x="9187942" y="4511040"/>
                  </a:cubicBezTo>
                  <a:lnTo>
                    <a:pt x="541274" y="4511040"/>
                  </a:lnTo>
                  <a:cubicBezTo>
                    <a:pt x="242316" y="4511040"/>
                    <a:pt x="0" y="4268724"/>
                    <a:pt x="0" y="396976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424160" y="6309360"/>
            <a:ext cx="274320" cy="274320"/>
            <a:chOff x="0" y="0"/>
            <a:chExt cx="365760" cy="365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8C8C8C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881360" y="6217920"/>
            <a:ext cx="61264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Pesos aleatórios  ·  contrafactual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424160" y="6766560"/>
            <a:ext cx="3840480" cy="1370521"/>
            <a:chOff x="0" y="0"/>
            <a:chExt cx="5120640" cy="182736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20640" cy="1827361"/>
            </a:xfrm>
            <a:custGeom>
              <a:avLst/>
              <a:gdLst/>
              <a:ahLst/>
              <a:cxnLst/>
              <a:rect r="r" b="b" t="t" l="l"/>
              <a:pathLst>
                <a:path h="1827361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827361"/>
                  </a:lnTo>
                  <a:lnTo>
                    <a:pt x="0" y="18273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65" r="0" b="36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5120640" cy="182736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>
                  <a:solidFill>
                    <a:srgbClr val="6B6B6B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F1 </a:t>
              </a:r>
              <a:r>
                <a:rPr lang="en-US" sz="6600" b="true">
                  <a:solidFill>
                    <a:srgbClr val="4D4D4D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0,168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4264640" y="7339965"/>
            <a:ext cx="27432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± 0,000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424160" y="8147685"/>
            <a:ext cx="6583680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Acurácia 0,336 ± 0,000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Idêntico nas 30 seeds (85 erros)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Rafael Barros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Análise de Dados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Teste de hipótese: vantagem em 30 de 30 pares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4128" y="1874520"/>
            <a:ext cx="8961120" cy="192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 b="true">
                <a:solidFill>
                  <a:srgbClr val="2D6A4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+0,770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3840480"/>
            <a:ext cx="1005840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Diferença média de F1 macro (ImageNet − aleatório)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252960" y="2377440"/>
            <a:ext cx="5010912" cy="1188720"/>
            <a:chOff x="0" y="0"/>
            <a:chExt cx="6681216" cy="1584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81216" cy="1584960"/>
            </a:xfrm>
            <a:custGeom>
              <a:avLst/>
              <a:gdLst/>
              <a:ahLst/>
              <a:cxnLst/>
              <a:rect r="r" b="b" t="t" l="l"/>
              <a:pathLst>
                <a:path h="1584960" w="6681216">
                  <a:moveTo>
                    <a:pt x="0" y="792480"/>
                  </a:moveTo>
                  <a:cubicBezTo>
                    <a:pt x="0" y="354838"/>
                    <a:pt x="354838" y="0"/>
                    <a:pt x="792480" y="0"/>
                  </a:cubicBezTo>
                  <a:lnTo>
                    <a:pt x="5888736" y="0"/>
                  </a:lnTo>
                  <a:cubicBezTo>
                    <a:pt x="6326378" y="0"/>
                    <a:pt x="6681216" y="354838"/>
                    <a:pt x="6681216" y="792480"/>
                  </a:cubicBezTo>
                  <a:cubicBezTo>
                    <a:pt x="6681216" y="1230122"/>
                    <a:pt x="6326378" y="1584960"/>
                    <a:pt x="5888736" y="1584960"/>
                  </a:cubicBezTo>
                  <a:lnTo>
                    <a:pt x="792480" y="1584960"/>
                  </a:lnTo>
                  <a:cubicBezTo>
                    <a:pt x="354838" y="1584960"/>
                    <a:pt x="0" y="1230122"/>
                    <a:pt x="0" y="79248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252960" y="2377440"/>
            <a:ext cx="5010912" cy="1188720"/>
            <a:chOff x="0" y="0"/>
            <a:chExt cx="6681216" cy="1584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81216" cy="1584960"/>
            </a:xfrm>
            <a:custGeom>
              <a:avLst/>
              <a:gdLst/>
              <a:ahLst/>
              <a:cxnLst/>
              <a:rect r="r" b="b" t="t" l="l"/>
              <a:pathLst>
                <a:path h="1584960" w="6681216">
                  <a:moveTo>
                    <a:pt x="0" y="0"/>
                  </a:moveTo>
                  <a:lnTo>
                    <a:pt x="6681216" y="0"/>
                  </a:lnTo>
                  <a:lnTo>
                    <a:pt x="6681216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136" r="0" b="-3213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6681216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H₀ rejeitada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3040" y="5879592"/>
            <a:ext cx="15361920" cy="36576"/>
            <a:chOff x="0" y="0"/>
            <a:chExt cx="20482560" cy="487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482561" cy="48768"/>
            </a:xfrm>
            <a:custGeom>
              <a:avLst/>
              <a:gdLst/>
              <a:ahLst/>
              <a:cxnLst/>
              <a:rect r="r" b="b" t="t" l="l"/>
              <a:pathLst>
                <a:path h="48768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B4B4B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49324" y="5788152"/>
            <a:ext cx="27432" cy="219456"/>
            <a:chOff x="0" y="0"/>
            <a:chExt cx="36576" cy="2926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576" cy="292608"/>
            </a:xfrm>
            <a:custGeom>
              <a:avLst/>
              <a:gdLst/>
              <a:ahLst/>
              <a:cxnLst/>
              <a:rect r="r" b="b" t="t" l="l"/>
              <a:pathLst>
                <a:path h="292608" w="36576">
                  <a:moveTo>
                    <a:pt x="0" y="0"/>
                  </a:moveTo>
                  <a:lnTo>
                    <a:pt x="36576" y="0"/>
                  </a:lnTo>
                  <a:lnTo>
                    <a:pt x="3657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B4B4B4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14400" y="6126480"/>
            <a:ext cx="109728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0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289804" y="5788152"/>
            <a:ext cx="27432" cy="219456"/>
            <a:chOff x="0" y="0"/>
            <a:chExt cx="36576" cy="2926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576" cy="292608"/>
            </a:xfrm>
            <a:custGeom>
              <a:avLst/>
              <a:gdLst/>
              <a:ahLst/>
              <a:cxnLst/>
              <a:rect r="r" b="b" t="t" l="l"/>
              <a:pathLst>
                <a:path h="292608" w="36576">
                  <a:moveTo>
                    <a:pt x="0" y="0"/>
                  </a:moveTo>
                  <a:lnTo>
                    <a:pt x="36576" y="0"/>
                  </a:lnTo>
                  <a:lnTo>
                    <a:pt x="3657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B4B4B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4754880" y="6126480"/>
            <a:ext cx="109728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0,25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130284" y="5788152"/>
            <a:ext cx="27432" cy="219456"/>
            <a:chOff x="0" y="0"/>
            <a:chExt cx="36576" cy="2926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76" cy="292608"/>
            </a:xfrm>
            <a:custGeom>
              <a:avLst/>
              <a:gdLst/>
              <a:ahLst/>
              <a:cxnLst/>
              <a:rect r="r" b="b" t="t" l="l"/>
              <a:pathLst>
                <a:path h="292608" w="36576">
                  <a:moveTo>
                    <a:pt x="0" y="0"/>
                  </a:moveTo>
                  <a:lnTo>
                    <a:pt x="36576" y="0"/>
                  </a:lnTo>
                  <a:lnTo>
                    <a:pt x="3657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B4B4B4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595360" y="6126480"/>
            <a:ext cx="109728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0,50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970764" y="5788152"/>
            <a:ext cx="27432" cy="219456"/>
            <a:chOff x="0" y="0"/>
            <a:chExt cx="36576" cy="2926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576" cy="292608"/>
            </a:xfrm>
            <a:custGeom>
              <a:avLst/>
              <a:gdLst/>
              <a:ahLst/>
              <a:cxnLst/>
              <a:rect r="r" b="b" t="t" l="l"/>
              <a:pathLst>
                <a:path h="292608" w="36576">
                  <a:moveTo>
                    <a:pt x="0" y="0"/>
                  </a:moveTo>
                  <a:lnTo>
                    <a:pt x="36576" y="0"/>
                  </a:lnTo>
                  <a:lnTo>
                    <a:pt x="3657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B4B4B4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435840" y="6126480"/>
            <a:ext cx="109728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0,75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6811244" y="5788152"/>
            <a:ext cx="27432" cy="219456"/>
            <a:chOff x="0" y="0"/>
            <a:chExt cx="36576" cy="2926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576" cy="292608"/>
            </a:xfrm>
            <a:custGeom>
              <a:avLst/>
              <a:gdLst/>
              <a:ahLst/>
              <a:cxnLst/>
              <a:rect r="r" b="b" t="t" l="l"/>
              <a:pathLst>
                <a:path h="292608" w="36576">
                  <a:moveTo>
                    <a:pt x="0" y="0"/>
                  </a:moveTo>
                  <a:lnTo>
                    <a:pt x="36576" y="0"/>
                  </a:lnTo>
                  <a:lnTo>
                    <a:pt x="3657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B4B4B4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6276320" y="6126480"/>
            <a:ext cx="109728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1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440180" y="4754880"/>
            <a:ext cx="45720" cy="73152"/>
            <a:chOff x="0" y="0"/>
            <a:chExt cx="60960" cy="975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960" cy="97536"/>
            </a:xfrm>
            <a:custGeom>
              <a:avLst/>
              <a:gdLst/>
              <a:ahLst/>
              <a:cxnLst/>
              <a:rect r="r" b="b" t="t" l="l"/>
              <a:pathLst>
                <a:path h="97536" w="60960">
                  <a:moveTo>
                    <a:pt x="0" y="0"/>
                  </a:moveTo>
                  <a:lnTo>
                    <a:pt x="60960" y="0"/>
                  </a:lnTo>
                  <a:lnTo>
                    <a:pt x="6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40180" y="4882896"/>
            <a:ext cx="45720" cy="73152"/>
            <a:chOff x="0" y="0"/>
            <a:chExt cx="60960" cy="975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960" cy="97536"/>
            </a:xfrm>
            <a:custGeom>
              <a:avLst/>
              <a:gdLst/>
              <a:ahLst/>
              <a:cxnLst/>
              <a:rect r="r" b="b" t="t" l="l"/>
              <a:pathLst>
                <a:path h="97536" w="60960">
                  <a:moveTo>
                    <a:pt x="0" y="0"/>
                  </a:moveTo>
                  <a:lnTo>
                    <a:pt x="60960" y="0"/>
                  </a:lnTo>
                  <a:lnTo>
                    <a:pt x="6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40180" y="5010912"/>
            <a:ext cx="45720" cy="73152"/>
            <a:chOff x="0" y="0"/>
            <a:chExt cx="60960" cy="9753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960" cy="97536"/>
            </a:xfrm>
            <a:custGeom>
              <a:avLst/>
              <a:gdLst/>
              <a:ahLst/>
              <a:cxnLst/>
              <a:rect r="r" b="b" t="t" l="l"/>
              <a:pathLst>
                <a:path h="97536" w="60960">
                  <a:moveTo>
                    <a:pt x="0" y="0"/>
                  </a:moveTo>
                  <a:lnTo>
                    <a:pt x="60960" y="0"/>
                  </a:lnTo>
                  <a:lnTo>
                    <a:pt x="6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40180" y="5138928"/>
            <a:ext cx="45720" cy="73152"/>
            <a:chOff x="0" y="0"/>
            <a:chExt cx="60960" cy="975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960" cy="97536"/>
            </a:xfrm>
            <a:custGeom>
              <a:avLst/>
              <a:gdLst/>
              <a:ahLst/>
              <a:cxnLst/>
              <a:rect r="r" b="b" t="t" l="l"/>
              <a:pathLst>
                <a:path h="97536" w="60960">
                  <a:moveTo>
                    <a:pt x="0" y="0"/>
                  </a:moveTo>
                  <a:lnTo>
                    <a:pt x="60960" y="0"/>
                  </a:lnTo>
                  <a:lnTo>
                    <a:pt x="6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40180" y="5266944"/>
            <a:ext cx="45720" cy="73152"/>
            <a:chOff x="0" y="0"/>
            <a:chExt cx="60960" cy="975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0960" cy="97536"/>
            </a:xfrm>
            <a:custGeom>
              <a:avLst/>
              <a:gdLst/>
              <a:ahLst/>
              <a:cxnLst/>
              <a:rect r="r" b="b" t="t" l="l"/>
              <a:pathLst>
                <a:path h="97536" w="60960">
                  <a:moveTo>
                    <a:pt x="0" y="0"/>
                  </a:moveTo>
                  <a:lnTo>
                    <a:pt x="60960" y="0"/>
                  </a:lnTo>
                  <a:lnTo>
                    <a:pt x="6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40180" y="5394960"/>
            <a:ext cx="45720" cy="73152"/>
            <a:chOff x="0" y="0"/>
            <a:chExt cx="60960" cy="975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960" cy="97536"/>
            </a:xfrm>
            <a:custGeom>
              <a:avLst/>
              <a:gdLst/>
              <a:ahLst/>
              <a:cxnLst/>
              <a:rect r="r" b="b" t="t" l="l"/>
              <a:pathLst>
                <a:path h="97536" w="60960">
                  <a:moveTo>
                    <a:pt x="0" y="0"/>
                  </a:moveTo>
                  <a:lnTo>
                    <a:pt x="60960" y="0"/>
                  </a:lnTo>
                  <a:lnTo>
                    <a:pt x="6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40180" y="5522976"/>
            <a:ext cx="45720" cy="73152"/>
            <a:chOff x="0" y="0"/>
            <a:chExt cx="60960" cy="9753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0960" cy="97536"/>
            </a:xfrm>
            <a:custGeom>
              <a:avLst/>
              <a:gdLst/>
              <a:ahLst/>
              <a:cxnLst/>
              <a:rect r="r" b="b" t="t" l="l"/>
              <a:pathLst>
                <a:path h="97536" w="60960">
                  <a:moveTo>
                    <a:pt x="0" y="0"/>
                  </a:moveTo>
                  <a:lnTo>
                    <a:pt x="60960" y="0"/>
                  </a:lnTo>
                  <a:lnTo>
                    <a:pt x="6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40180" y="5650992"/>
            <a:ext cx="45720" cy="73152"/>
            <a:chOff x="0" y="0"/>
            <a:chExt cx="60960" cy="9753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960" cy="97536"/>
            </a:xfrm>
            <a:custGeom>
              <a:avLst/>
              <a:gdLst/>
              <a:ahLst/>
              <a:cxnLst/>
              <a:rect r="r" b="b" t="t" l="l"/>
              <a:pathLst>
                <a:path h="97536" w="60960">
                  <a:moveTo>
                    <a:pt x="0" y="0"/>
                  </a:moveTo>
                  <a:lnTo>
                    <a:pt x="60960" y="0"/>
                  </a:lnTo>
                  <a:lnTo>
                    <a:pt x="6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40180" y="5779008"/>
            <a:ext cx="45720" cy="73152"/>
            <a:chOff x="0" y="0"/>
            <a:chExt cx="60960" cy="9753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960" cy="97536"/>
            </a:xfrm>
            <a:custGeom>
              <a:avLst/>
              <a:gdLst/>
              <a:ahLst/>
              <a:cxnLst/>
              <a:rect r="r" b="b" t="t" l="l"/>
              <a:pathLst>
                <a:path h="97536" w="60960">
                  <a:moveTo>
                    <a:pt x="0" y="0"/>
                  </a:moveTo>
                  <a:lnTo>
                    <a:pt x="60960" y="0"/>
                  </a:lnTo>
                  <a:lnTo>
                    <a:pt x="6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40180" y="5907024"/>
            <a:ext cx="45720" cy="73152"/>
            <a:chOff x="0" y="0"/>
            <a:chExt cx="60960" cy="975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0960" cy="97536"/>
            </a:xfrm>
            <a:custGeom>
              <a:avLst/>
              <a:gdLst/>
              <a:ahLst/>
              <a:cxnLst/>
              <a:rect r="r" b="b" t="t" l="l"/>
              <a:pathLst>
                <a:path h="97536" w="60960">
                  <a:moveTo>
                    <a:pt x="0" y="0"/>
                  </a:moveTo>
                  <a:lnTo>
                    <a:pt x="60960" y="0"/>
                  </a:lnTo>
                  <a:lnTo>
                    <a:pt x="60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645920" y="4653915"/>
            <a:ext cx="27432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H₀: Δ = 0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2769415" y="5669280"/>
            <a:ext cx="1029252" cy="457200"/>
            <a:chOff x="0" y="0"/>
            <a:chExt cx="1372337" cy="609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72362" cy="609600"/>
            </a:xfrm>
            <a:custGeom>
              <a:avLst/>
              <a:gdLst/>
              <a:ahLst/>
              <a:cxnLst/>
              <a:rect r="r" b="b" t="t" l="l"/>
              <a:pathLst>
                <a:path h="609600" w="1372362">
                  <a:moveTo>
                    <a:pt x="0" y="0"/>
                  </a:moveTo>
                  <a:lnTo>
                    <a:pt x="1372362" y="0"/>
                  </a:lnTo>
                  <a:lnTo>
                    <a:pt x="1372362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A9CDB9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167284" y="5550408"/>
            <a:ext cx="259613" cy="694944"/>
            <a:chOff x="0" y="0"/>
            <a:chExt cx="346151" cy="9265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46202" cy="926592"/>
            </a:xfrm>
            <a:custGeom>
              <a:avLst/>
              <a:gdLst/>
              <a:ahLst/>
              <a:cxnLst/>
              <a:rect r="r" b="b" t="t" l="l"/>
              <a:pathLst>
                <a:path h="926592" w="346202">
                  <a:moveTo>
                    <a:pt x="0" y="0"/>
                  </a:moveTo>
                  <a:lnTo>
                    <a:pt x="346202" y="0"/>
                  </a:lnTo>
                  <a:lnTo>
                    <a:pt x="34620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9999878" y="4653915"/>
            <a:ext cx="658368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2D6A4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IC 95% (t): [0,762; 0,779]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999878" y="6400800"/>
            <a:ext cx="658368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reamostrando as imagens: [0,736; 0,803]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024128" y="7086600"/>
            <a:ext cx="3840480" cy="1691640"/>
            <a:chOff x="0" y="0"/>
            <a:chExt cx="5120640" cy="2255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120640" cy="2255520"/>
            </a:xfrm>
            <a:custGeom>
              <a:avLst/>
              <a:gdLst/>
              <a:ahLst/>
              <a:cxnLst/>
              <a:rect r="r" b="b" t="t" l="l"/>
              <a:pathLst>
                <a:path h="2255520" w="5120640">
                  <a:moveTo>
                    <a:pt x="0" y="270637"/>
                  </a:moveTo>
                  <a:cubicBezTo>
                    <a:pt x="0" y="121158"/>
                    <a:pt x="121158" y="0"/>
                    <a:pt x="270637" y="0"/>
                  </a:cubicBezTo>
                  <a:lnTo>
                    <a:pt x="4850003" y="0"/>
                  </a:lnTo>
                  <a:cubicBezTo>
                    <a:pt x="4999482" y="0"/>
                    <a:pt x="5120640" y="121158"/>
                    <a:pt x="5120640" y="270637"/>
                  </a:cubicBezTo>
                  <a:lnTo>
                    <a:pt x="5120640" y="1984883"/>
                  </a:lnTo>
                  <a:cubicBezTo>
                    <a:pt x="5120640" y="2134362"/>
                    <a:pt x="4999482" y="2255520"/>
                    <a:pt x="4850003" y="2255520"/>
                  </a:cubicBezTo>
                  <a:lnTo>
                    <a:pt x="270637" y="2255520"/>
                  </a:lnTo>
                  <a:cubicBezTo>
                    <a:pt x="121158" y="2255520"/>
                    <a:pt x="0" y="2134362"/>
                    <a:pt x="0" y="198488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1344168" y="7296912"/>
            <a:ext cx="329184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t(29) = 186,47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44168" y="8101965"/>
            <a:ext cx="329184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teste t pareado bilateral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5157216" y="7086600"/>
            <a:ext cx="3840480" cy="1691640"/>
            <a:chOff x="0" y="0"/>
            <a:chExt cx="5120640" cy="2255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20640" cy="2255520"/>
            </a:xfrm>
            <a:custGeom>
              <a:avLst/>
              <a:gdLst/>
              <a:ahLst/>
              <a:cxnLst/>
              <a:rect r="r" b="b" t="t" l="l"/>
              <a:pathLst>
                <a:path h="2255520" w="5120640">
                  <a:moveTo>
                    <a:pt x="0" y="270637"/>
                  </a:moveTo>
                  <a:cubicBezTo>
                    <a:pt x="0" y="121158"/>
                    <a:pt x="121158" y="0"/>
                    <a:pt x="270637" y="0"/>
                  </a:cubicBezTo>
                  <a:lnTo>
                    <a:pt x="4850003" y="0"/>
                  </a:lnTo>
                  <a:cubicBezTo>
                    <a:pt x="4999482" y="0"/>
                    <a:pt x="5120640" y="121158"/>
                    <a:pt x="5120640" y="270637"/>
                  </a:cubicBezTo>
                  <a:lnTo>
                    <a:pt x="5120640" y="1984883"/>
                  </a:lnTo>
                  <a:cubicBezTo>
                    <a:pt x="5120640" y="2134362"/>
                    <a:pt x="4999482" y="2255520"/>
                    <a:pt x="4850003" y="2255520"/>
                  </a:cubicBezTo>
                  <a:lnTo>
                    <a:pt x="270637" y="2255520"/>
                  </a:lnTo>
                  <a:cubicBezTo>
                    <a:pt x="121158" y="2255520"/>
                    <a:pt x="0" y="2134362"/>
                    <a:pt x="0" y="198488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5477256" y="7296912"/>
            <a:ext cx="329184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 = 3,3 × 10−46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477256" y="8101965"/>
            <a:ext cx="32918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valor-p (descritivo)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9290304" y="7086600"/>
            <a:ext cx="3840480" cy="1691640"/>
            <a:chOff x="0" y="0"/>
            <a:chExt cx="5120640" cy="2255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120640" cy="2255520"/>
            </a:xfrm>
            <a:custGeom>
              <a:avLst/>
              <a:gdLst/>
              <a:ahLst/>
              <a:cxnLst/>
              <a:rect r="r" b="b" t="t" l="l"/>
              <a:pathLst>
                <a:path h="2255520" w="5120640">
                  <a:moveTo>
                    <a:pt x="0" y="270637"/>
                  </a:moveTo>
                  <a:cubicBezTo>
                    <a:pt x="0" y="121158"/>
                    <a:pt x="121158" y="0"/>
                    <a:pt x="270637" y="0"/>
                  </a:cubicBezTo>
                  <a:lnTo>
                    <a:pt x="4850003" y="0"/>
                  </a:lnTo>
                  <a:cubicBezTo>
                    <a:pt x="4999482" y="0"/>
                    <a:pt x="5120640" y="121158"/>
                    <a:pt x="5120640" y="270637"/>
                  </a:cubicBezTo>
                  <a:lnTo>
                    <a:pt x="5120640" y="1984883"/>
                  </a:lnTo>
                  <a:cubicBezTo>
                    <a:pt x="5120640" y="2134362"/>
                    <a:pt x="4999482" y="2255520"/>
                    <a:pt x="4850003" y="2255520"/>
                  </a:cubicBezTo>
                  <a:lnTo>
                    <a:pt x="270637" y="2255520"/>
                  </a:lnTo>
                  <a:cubicBezTo>
                    <a:pt x="121158" y="2255520"/>
                    <a:pt x="0" y="2134362"/>
                    <a:pt x="0" y="198488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9610344" y="7296912"/>
            <a:ext cx="329184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 = 1,9 × 10−9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610344" y="8101965"/>
            <a:ext cx="329184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Wilcoxon e teste do sinal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3423392" y="7086600"/>
            <a:ext cx="3840480" cy="1691640"/>
            <a:chOff x="0" y="0"/>
            <a:chExt cx="5120640" cy="22555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120640" cy="2255520"/>
            </a:xfrm>
            <a:custGeom>
              <a:avLst/>
              <a:gdLst/>
              <a:ahLst/>
              <a:cxnLst/>
              <a:rect r="r" b="b" t="t" l="l"/>
              <a:pathLst>
                <a:path h="2255520" w="5120640">
                  <a:moveTo>
                    <a:pt x="0" y="270637"/>
                  </a:moveTo>
                  <a:cubicBezTo>
                    <a:pt x="0" y="121158"/>
                    <a:pt x="121158" y="0"/>
                    <a:pt x="270637" y="0"/>
                  </a:cubicBezTo>
                  <a:lnTo>
                    <a:pt x="4850003" y="0"/>
                  </a:lnTo>
                  <a:cubicBezTo>
                    <a:pt x="4999482" y="0"/>
                    <a:pt x="5120640" y="121158"/>
                    <a:pt x="5120640" y="270637"/>
                  </a:cubicBezTo>
                  <a:lnTo>
                    <a:pt x="5120640" y="1984883"/>
                  </a:lnTo>
                  <a:cubicBezTo>
                    <a:pt x="5120640" y="2134362"/>
                    <a:pt x="4999482" y="2255520"/>
                    <a:pt x="4850003" y="2255520"/>
                  </a:cubicBezTo>
                  <a:lnTo>
                    <a:pt x="270637" y="2255520"/>
                  </a:lnTo>
                  <a:cubicBezTo>
                    <a:pt x="121158" y="2255520"/>
                    <a:pt x="0" y="2134362"/>
                    <a:pt x="0" y="198488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69" id="69"/>
          <p:cNvSpPr txBox="true"/>
          <p:nvPr/>
        </p:nvSpPr>
        <p:spPr>
          <a:xfrm rot="0">
            <a:off x="13743432" y="7296912"/>
            <a:ext cx="329184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30 de 30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743432" y="8101965"/>
            <a:ext cx="329184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pares a favor do ImageNet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24128" y="9098280"/>
            <a:ext cx="128016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i="true">
                <a:solidFill>
                  <a:srgbClr val="B4B4B4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α = 0,05 adotado na redação do artigo; o p-valor é lido como descritivo.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Rafael Barros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Análise de Dados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Onde a solução principal erra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91840" y="2066925"/>
            <a:ext cx="534924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6B6B6B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Classe prevista →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291840" y="2468880"/>
            <a:ext cx="1783080" cy="384048"/>
            <a:chOff x="0" y="0"/>
            <a:chExt cx="2377440" cy="5120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7440" cy="512064"/>
            </a:xfrm>
            <a:custGeom>
              <a:avLst/>
              <a:gdLst/>
              <a:ahLst/>
              <a:cxnLst/>
              <a:rect r="r" b="b" t="t" l="l"/>
              <a:pathLst>
                <a:path h="51206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377440" cy="51206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Mancha angular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41248" y="2926080"/>
            <a:ext cx="2221992" cy="1783080"/>
            <a:chOff x="0" y="0"/>
            <a:chExt cx="2962656" cy="2377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62656" cy="2377440"/>
            </a:xfrm>
            <a:custGeom>
              <a:avLst/>
              <a:gdLst/>
              <a:ahLst/>
              <a:cxnLst/>
              <a:rect r="r" b="b" t="t" l="l"/>
              <a:pathLst>
                <a:path h="237744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959" t="0" r="-52959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962656" cy="2377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Mancha angular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328416" y="2962656"/>
            <a:ext cx="1709928" cy="1709928"/>
            <a:chOff x="0" y="0"/>
            <a:chExt cx="2279904" cy="22799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291840" y="2926080"/>
            <a:ext cx="1783080" cy="1783080"/>
            <a:chOff x="0" y="0"/>
            <a:chExt cx="2377440" cy="2377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97,8%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111496" y="2962656"/>
            <a:ext cx="1709928" cy="1709928"/>
            <a:chOff x="0" y="0"/>
            <a:chExt cx="2279904" cy="22799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074920" y="2926080"/>
            <a:ext cx="1783080" cy="1783080"/>
            <a:chOff x="0" y="0"/>
            <a:chExt cx="2377440" cy="2377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6B6B6B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2,0%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94576" y="2962656"/>
            <a:ext cx="1709928" cy="1709928"/>
            <a:chOff x="0" y="0"/>
            <a:chExt cx="2279904" cy="22799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858000" y="2926080"/>
            <a:ext cx="1783080" cy="1783080"/>
            <a:chOff x="0" y="0"/>
            <a:chExt cx="2377440" cy="2377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6B6B6B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0,2%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074920" y="2468880"/>
            <a:ext cx="1783080" cy="384048"/>
            <a:chOff x="0" y="0"/>
            <a:chExt cx="2377440" cy="5120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77440" cy="512064"/>
            </a:xfrm>
            <a:custGeom>
              <a:avLst/>
              <a:gdLst/>
              <a:ahLst/>
              <a:cxnLst/>
              <a:rect r="r" b="b" t="t" l="l"/>
              <a:pathLst>
                <a:path h="51206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377440" cy="51206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Ferrugem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41248" y="4709160"/>
            <a:ext cx="2221992" cy="1783080"/>
            <a:chOff x="0" y="0"/>
            <a:chExt cx="2962656" cy="2377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62656" cy="2377440"/>
            </a:xfrm>
            <a:custGeom>
              <a:avLst/>
              <a:gdLst/>
              <a:ahLst/>
              <a:cxnLst/>
              <a:rect r="r" b="b" t="t" l="l"/>
              <a:pathLst>
                <a:path h="237744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959" t="0" r="-52959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2962656" cy="2377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Ferrugem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328416" y="4745736"/>
            <a:ext cx="1709928" cy="1709928"/>
            <a:chOff x="0" y="0"/>
            <a:chExt cx="2279904" cy="22799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A9CDB9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291840" y="4709160"/>
            <a:ext cx="1783080" cy="1783080"/>
            <a:chOff x="0" y="0"/>
            <a:chExt cx="2377440" cy="2377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11,9%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111496" y="4745736"/>
            <a:ext cx="1709928" cy="1709928"/>
            <a:chOff x="0" y="0"/>
            <a:chExt cx="2279904" cy="227990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074920" y="4709160"/>
            <a:ext cx="1783080" cy="1783080"/>
            <a:chOff x="0" y="0"/>
            <a:chExt cx="2377440" cy="2377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85,0%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894576" y="4745736"/>
            <a:ext cx="1709928" cy="1709928"/>
            <a:chOff x="0" y="0"/>
            <a:chExt cx="2279904" cy="227990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858000" y="4709160"/>
            <a:ext cx="1783080" cy="1783080"/>
            <a:chOff x="0" y="0"/>
            <a:chExt cx="2377440" cy="2377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6B6B6B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3,1%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858000" y="2468880"/>
            <a:ext cx="1783080" cy="384048"/>
            <a:chOff x="0" y="0"/>
            <a:chExt cx="2377440" cy="5120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377440" cy="512064"/>
            </a:xfrm>
            <a:custGeom>
              <a:avLst/>
              <a:gdLst/>
              <a:ahLst/>
              <a:cxnLst/>
              <a:rect r="r" b="b" t="t" l="l"/>
              <a:pathLst>
                <a:path h="51206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2377440" cy="51206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Saudável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41248" y="6492240"/>
            <a:ext cx="2221992" cy="1783080"/>
            <a:chOff x="0" y="0"/>
            <a:chExt cx="2962656" cy="2377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962656" cy="2377440"/>
            </a:xfrm>
            <a:custGeom>
              <a:avLst/>
              <a:gdLst/>
              <a:ahLst/>
              <a:cxnLst/>
              <a:rect r="r" b="b" t="t" l="l"/>
              <a:pathLst>
                <a:path h="237744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959" t="0" r="-52959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2962656" cy="2377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Saudável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328416" y="6528816"/>
            <a:ext cx="1709928" cy="1709928"/>
            <a:chOff x="0" y="0"/>
            <a:chExt cx="2279904" cy="227990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3291840" y="6492240"/>
            <a:ext cx="1783080" cy="1783080"/>
            <a:chOff x="0" y="0"/>
            <a:chExt cx="2377440" cy="23774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6B6B6B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0,2%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111496" y="6528816"/>
            <a:ext cx="1709928" cy="1709928"/>
            <a:chOff x="0" y="0"/>
            <a:chExt cx="2279904" cy="227990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5074920" y="6492240"/>
            <a:ext cx="1783080" cy="1783080"/>
            <a:chOff x="0" y="0"/>
            <a:chExt cx="2377440" cy="23774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6B6B6B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0,9%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894576" y="6528816"/>
            <a:ext cx="1709928" cy="1709928"/>
            <a:chOff x="0" y="0"/>
            <a:chExt cx="2279904" cy="227990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858000" y="6492240"/>
            <a:ext cx="1783080" cy="1783080"/>
            <a:chOff x="0" y="0"/>
            <a:chExt cx="2377440" cy="2377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99,0%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841248" y="8503920"/>
            <a:ext cx="7799832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Solução principal (ImageNet): matriz agregada das 30 seeds, em % de cada classe real (3.840 previsões).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692640" y="2194560"/>
            <a:ext cx="7571232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2D6A4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65%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692640" y="3236595"/>
            <a:ext cx="7571232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dos erros: ferrugem prevista como mancha angular (154 de 236)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692640" y="4526280"/>
            <a:ext cx="7571232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2D6A4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0,850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692640" y="5568315"/>
            <a:ext cx="7571232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revocação da ferrugem, contra 0,990 na classe saudável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692640" y="6858000"/>
            <a:ext cx="7571232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2D6A4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92/128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692640" y="7900035"/>
            <a:ext cx="7571232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imagens nunca erradas; a test-0125 foi errada em 28 de 30 seeds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Rafael Barros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Análise de Dados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Pesos aleatórios: saída constante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91840" y="2066925"/>
            <a:ext cx="534924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6B6B6B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Classe prevista →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291840" y="2468880"/>
            <a:ext cx="1783080" cy="384048"/>
            <a:chOff x="0" y="0"/>
            <a:chExt cx="2377440" cy="5120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7440" cy="512064"/>
            </a:xfrm>
            <a:custGeom>
              <a:avLst/>
              <a:gdLst/>
              <a:ahLst/>
              <a:cxnLst/>
              <a:rect r="r" b="b" t="t" l="l"/>
              <a:pathLst>
                <a:path h="51206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377440" cy="51206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Mancha angular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41248" y="2926080"/>
            <a:ext cx="2221992" cy="1783080"/>
            <a:chOff x="0" y="0"/>
            <a:chExt cx="2962656" cy="2377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62656" cy="2377440"/>
            </a:xfrm>
            <a:custGeom>
              <a:avLst/>
              <a:gdLst/>
              <a:ahLst/>
              <a:cxnLst/>
              <a:rect r="r" b="b" t="t" l="l"/>
              <a:pathLst>
                <a:path h="237744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959" t="0" r="-52959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962656" cy="2377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Mancha angular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328416" y="2962656"/>
            <a:ext cx="1709928" cy="1709928"/>
            <a:chOff x="0" y="0"/>
            <a:chExt cx="2279904" cy="22799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8C8C8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291840" y="2926080"/>
            <a:ext cx="1783080" cy="1783080"/>
            <a:chOff x="0" y="0"/>
            <a:chExt cx="2377440" cy="2377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46,7%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111496" y="2962656"/>
            <a:ext cx="1709928" cy="1709928"/>
            <a:chOff x="0" y="0"/>
            <a:chExt cx="2279904" cy="22799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074920" y="2926080"/>
            <a:ext cx="1783080" cy="1783080"/>
            <a:chOff x="0" y="0"/>
            <a:chExt cx="2377440" cy="2377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53,3%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94576" y="2962656"/>
            <a:ext cx="1709928" cy="1709928"/>
            <a:chOff x="0" y="0"/>
            <a:chExt cx="2279904" cy="22799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858000" y="2926080"/>
            <a:ext cx="1783080" cy="1783080"/>
            <a:chOff x="0" y="0"/>
            <a:chExt cx="2377440" cy="2377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B4B4B4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074920" y="2468880"/>
            <a:ext cx="1783080" cy="384048"/>
            <a:chOff x="0" y="0"/>
            <a:chExt cx="2377440" cy="5120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77440" cy="512064"/>
            </a:xfrm>
            <a:custGeom>
              <a:avLst/>
              <a:gdLst/>
              <a:ahLst/>
              <a:cxnLst/>
              <a:rect r="r" b="b" t="t" l="l"/>
              <a:pathLst>
                <a:path h="51206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377440" cy="51206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Ferrugem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41248" y="4709160"/>
            <a:ext cx="2221992" cy="1783080"/>
            <a:chOff x="0" y="0"/>
            <a:chExt cx="2962656" cy="2377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62656" cy="2377440"/>
            </a:xfrm>
            <a:custGeom>
              <a:avLst/>
              <a:gdLst/>
              <a:ahLst/>
              <a:cxnLst/>
              <a:rect r="r" b="b" t="t" l="l"/>
              <a:pathLst>
                <a:path h="237744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959" t="0" r="-52959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2962656" cy="2377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Ferrugem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328416" y="4745736"/>
            <a:ext cx="1709928" cy="1709928"/>
            <a:chOff x="0" y="0"/>
            <a:chExt cx="2279904" cy="22799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8C8C8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291840" y="4709160"/>
            <a:ext cx="1783080" cy="1783080"/>
            <a:chOff x="0" y="0"/>
            <a:chExt cx="2377440" cy="2377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46,7%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111496" y="4745736"/>
            <a:ext cx="1709928" cy="1709928"/>
            <a:chOff x="0" y="0"/>
            <a:chExt cx="2279904" cy="227990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074920" y="4709160"/>
            <a:ext cx="1783080" cy="1783080"/>
            <a:chOff x="0" y="0"/>
            <a:chExt cx="2377440" cy="2377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53,3%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894576" y="4745736"/>
            <a:ext cx="1709928" cy="1709928"/>
            <a:chOff x="0" y="0"/>
            <a:chExt cx="2279904" cy="227990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858000" y="4709160"/>
            <a:ext cx="1783080" cy="1783080"/>
            <a:chOff x="0" y="0"/>
            <a:chExt cx="2377440" cy="2377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B4B4B4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0%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858000" y="2468880"/>
            <a:ext cx="1783080" cy="384048"/>
            <a:chOff x="0" y="0"/>
            <a:chExt cx="2377440" cy="5120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377440" cy="512064"/>
            </a:xfrm>
            <a:custGeom>
              <a:avLst/>
              <a:gdLst/>
              <a:ahLst/>
              <a:cxnLst/>
              <a:rect r="r" b="b" t="t" l="l"/>
              <a:pathLst>
                <a:path h="51206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2377440" cy="51206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Saudável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41248" y="6492240"/>
            <a:ext cx="2221992" cy="1783080"/>
            <a:chOff x="0" y="0"/>
            <a:chExt cx="2962656" cy="2377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962656" cy="2377440"/>
            </a:xfrm>
            <a:custGeom>
              <a:avLst/>
              <a:gdLst/>
              <a:ahLst/>
              <a:cxnLst/>
              <a:rect r="r" b="b" t="t" l="l"/>
              <a:pathLst>
                <a:path h="237744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959" t="0" r="-52959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2962656" cy="2377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Saudável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328416" y="6528816"/>
            <a:ext cx="1709928" cy="1709928"/>
            <a:chOff x="0" y="0"/>
            <a:chExt cx="2279904" cy="227990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8C8C8C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3291840" y="6492240"/>
            <a:ext cx="1783080" cy="1783080"/>
            <a:chOff x="0" y="0"/>
            <a:chExt cx="2377440" cy="23774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46,7%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111496" y="6528816"/>
            <a:ext cx="1709928" cy="1709928"/>
            <a:chOff x="0" y="0"/>
            <a:chExt cx="2279904" cy="227990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5074920" y="6492240"/>
            <a:ext cx="1783080" cy="1783080"/>
            <a:chOff x="0" y="0"/>
            <a:chExt cx="2377440" cy="23774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53,3%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894576" y="6528816"/>
            <a:ext cx="1709928" cy="1709928"/>
            <a:chOff x="0" y="0"/>
            <a:chExt cx="2279904" cy="227990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79904" cy="2279904"/>
            </a:xfrm>
            <a:custGeom>
              <a:avLst/>
              <a:gdLst/>
              <a:ahLst/>
              <a:cxnLst/>
              <a:rect r="r" b="b" t="t" l="l"/>
              <a:pathLst>
                <a:path h="2279904" w="227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2143125" y="0"/>
                  </a:lnTo>
                  <a:cubicBezTo>
                    <a:pt x="2218690" y="0"/>
                    <a:pt x="2279904" y="61214"/>
                    <a:pt x="2279904" y="136779"/>
                  </a:cubicBezTo>
                  <a:lnTo>
                    <a:pt x="2279904" y="2143125"/>
                  </a:lnTo>
                  <a:cubicBezTo>
                    <a:pt x="2279904" y="2218690"/>
                    <a:pt x="2218690" y="2279904"/>
                    <a:pt x="2143125" y="2279904"/>
                  </a:cubicBezTo>
                  <a:lnTo>
                    <a:pt x="136779" y="2279904"/>
                  </a:lnTo>
                  <a:cubicBezTo>
                    <a:pt x="61214" y="2279904"/>
                    <a:pt x="0" y="2218690"/>
                    <a:pt x="0" y="2143125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858000" y="6492240"/>
            <a:ext cx="1783080" cy="1783080"/>
            <a:chOff x="0" y="0"/>
            <a:chExt cx="2377440" cy="2377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9525"/>
              <a:ext cx="237744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B4B4B4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0%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841248" y="8503920"/>
            <a:ext cx="7799832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Pesos aleatórios: matriz agregada das 30 seeds. Cada modelo previu uma só classe: 14 seeds → mancha angular, 16 → ferrugem.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9692640" y="2057400"/>
            <a:ext cx="777240" cy="777240"/>
            <a:chOff x="0" y="0"/>
            <a:chExt cx="1036320" cy="10363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36320" cy="1036320"/>
            </a:xfrm>
            <a:custGeom>
              <a:avLst/>
              <a:gdLst/>
              <a:ahLst/>
              <a:cxnLst/>
              <a:rect r="r" b="b" t="t" l="l"/>
              <a:pathLst>
                <a:path h="1036320" w="1036320">
                  <a:moveTo>
                    <a:pt x="0" y="518160"/>
                  </a:moveTo>
                  <a:cubicBezTo>
                    <a:pt x="0" y="232029"/>
                    <a:pt x="232029" y="0"/>
                    <a:pt x="518160" y="0"/>
                  </a:cubicBezTo>
                  <a:cubicBezTo>
                    <a:pt x="804291" y="0"/>
                    <a:pt x="1036320" y="232029"/>
                    <a:pt x="1036320" y="518160"/>
                  </a:cubicBezTo>
                  <a:cubicBezTo>
                    <a:pt x="1036320" y="804291"/>
                    <a:pt x="804291" y="1036320"/>
                    <a:pt x="518160" y="1036320"/>
                  </a:cubicBezTo>
                  <a:cubicBezTo>
                    <a:pt x="232029" y="1036320"/>
                    <a:pt x="0" y="804291"/>
                    <a:pt x="0" y="51816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848088" y="2212848"/>
            <a:ext cx="466344" cy="466344"/>
            <a:chOff x="0" y="0"/>
            <a:chExt cx="621792" cy="621792"/>
          </a:xfrm>
        </p:grpSpPr>
        <p:sp>
          <p:nvSpPr>
            <p:cNvPr name="Freeform 72" id="72" descr="ic_alert.png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0698480" y="2057400"/>
            <a:ext cx="6565392" cy="777240"/>
            <a:chOff x="0" y="0"/>
            <a:chExt cx="8753856" cy="10363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753856" cy="1036320"/>
            </a:xfrm>
            <a:custGeom>
              <a:avLst/>
              <a:gdLst/>
              <a:ahLst/>
              <a:cxnLst/>
              <a:rect r="r" b="b" t="t" l="l"/>
              <a:pathLst>
                <a:path h="1036320" w="8753856">
                  <a:moveTo>
                    <a:pt x="0" y="0"/>
                  </a:moveTo>
                  <a:lnTo>
                    <a:pt x="8753856" y="0"/>
                  </a:lnTo>
                  <a:lnTo>
                    <a:pt x="8753856" y="1036320"/>
                  </a:lnTo>
                  <a:lnTo>
                    <a:pt x="0" y="1036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91" r="0" b="-11459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8753856" cy="1036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Saída constante na inferência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9692640" y="3154680"/>
            <a:ext cx="757123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100%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692640" y="4105275"/>
            <a:ext cx="7571232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das 128 imagens na mesma classe, em 30 de 30 seeds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692640" y="5212080"/>
            <a:ext cx="757123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0,97 vs. 0,34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692640" y="6162675"/>
            <a:ext cx="7571232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acurácia no treino (modo de treinamento) vs. máxima na validação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9692640" y="7269480"/>
            <a:ext cx="757123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29/30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9692640" y="8220075"/>
            <a:ext cx="7571232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seeds com pesos selecionados nas épocas 1 a 4 (menor perda de validação)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Rafael Barros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Análise de Dados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Grad-CAM: para onde o modelo olha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17520" y="2093595"/>
            <a:ext cx="28346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Mancha angular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80760" y="2093595"/>
            <a:ext cx="28346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Ferrugem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2093595"/>
            <a:ext cx="28346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Saudável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41248" y="2651760"/>
            <a:ext cx="1965960" cy="2834640"/>
            <a:chOff x="0" y="0"/>
            <a:chExt cx="2621280" cy="3779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21280" cy="3779520"/>
            </a:xfrm>
            <a:custGeom>
              <a:avLst/>
              <a:gdLst/>
              <a:ahLst/>
              <a:cxnLst/>
              <a:rect r="r" b="b" t="t" l="l"/>
              <a:pathLst>
                <a:path h="3779520" w="2621280">
                  <a:moveTo>
                    <a:pt x="0" y="0"/>
                  </a:moveTo>
                  <a:lnTo>
                    <a:pt x="2621280" y="0"/>
                  </a:lnTo>
                  <a:lnTo>
                    <a:pt x="262128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4995" t="0" r="-134995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621280" cy="3779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39"/>
                </a:lnSpc>
              </a:pPr>
              <a:r>
                <a:rPr lang="en-US" sz="2199" b="true">
                  <a:solidFill>
                    <a:srgbClr val="2D6A4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ImageNet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017520" y="2651760"/>
            <a:ext cx="2834640" cy="2834640"/>
            <a:chOff x="0" y="0"/>
            <a:chExt cx="3779520" cy="3779520"/>
          </a:xfrm>
        </p:grpSpPr>
        <p:sp>
          <p:nvSpPr>
            <p:cNvPr name="Freeform 11" id="11" descr="gc2_prin_angular_leaf_spot.png"/>
            <p:cNvSpPr/>
            <p:nvPr/>
          </p:nvSpPr>
          <p:spPr>
            <a:xfrm flipH="false" flipV="false" rot="0">
              <a:off x="0" y="0"/>
              <a:ext cx="37795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3779520"/>
                  </a:lnTo>
                  <a:lnTo>
                    <a:pt x="0" y="377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80760" y="2651760"/>
            <a:ext cx="2834640" cy="2834640"/>
            <a:chOff x="0" y="0"/>
            <a:chExt cx="3779520" cy="3779520"/>
          </a:xfrm>
        </p:grpSpPr>
        <p:sp>
          <p:nvSpPr>
            <p:cNvPr name="Freeform 13" id="13" descr="gc2_prin_bean_rust.png"/>
            <p:cNvSpPr/>
            <p:nvPr/>
          </p:nvSpPr>
          <p:spPr>
            <a:xfrm flipH="false" flipV="false" rot="0">
              <a:off x="0" y="0"/>
              <a:ext cx="37795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3779520"/>
                  </a:lnTo>
                  <a:lnTo>
                    <a:pt x="0" y="377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0" y="2651760"/>
            <a:ext cx="2834640" cy="2834640"/>
            <a:chOff x="0" y="0"/>
            <a:chExt cx="3779520" cy="3779520"/>
          </a:xfrm>
        </p:grpSpPr>
        <p:sp>
          <p:nvSpPr>
            <p:cNvPr name="Freeform 15" id="15" descr="gc2_prin_healthy.png"/>
            <p:cNvSpPr/>
            <p:nvPr/>
          </p:nvSpPr>
          <p:spPr>
            <a:xfrm flipH="false" flipV="false" rot="0">
              <a:off x="0" y="0"/>
              <a:ext cx="37795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3779520"/>
                  </a:lnTo>
                  <a:lnTo>
                    <a:pt x="0" y="377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41248" y="5760720"/>
            <a:ext cx="1965960" cy="2834640"/>
            <a:chOff x="0" y="0"/>
            <a:chExt cx="2621280" cy="3779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21280" cy="3779520"/>
            </a:xfrm>
            <a:custGeom>
              <a:avLst/>
              <a:gdLst/>
              <a:ahLst/>
              <a:cxnLst/>
              <a:rect r="r" b="b" t="t" l="l"/>
              <a:pathLst>
                <a:path h="3779520" w="2621280">
                  <a:moveTo>
                    <a:pt x="0" y="0"/>
                  </a:moveTo>
                  <a:lnTo>
                    <a:pt x="2621280" y="0"/>
                  </a:lnTo>
                  <a:lnTo>
                    <a:pt x="262128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4995" t="0" r="-134995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621280" cy="3779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39"/>
                </a:lnSpc>
              </a:pPr>
              <a:r>
                <a:rPr lang="en-US" sz="2199" b="true">
                  <a:solidFill>
                    <a:srgbClr val="4D4D4D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Pesos</a:t>
              </a:r>
            </a:p>
            <a:p>
              <a:pPr algn="r">
                <a:lnSpc>
                  <a:spcPts val="2639"/>
                </a:lnSpc>
              </a:pPr>
              <a:r>
                <a:rPr lang="en-US" sz="2199" b="true">
                  <a:solidFill>
                    <a:srgbClr val="4D4D4D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aleatórios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017520" y="5760720"/>
            <a:ext cx="2834640" cy="2834640"/>
            <a:chOff x="0" y="0"/>
            <a:chExt cx="3779520" cy="3779520"/>
          </a:xfrm>
        </p:grpSpPr>
        <p:sp>
          <p:nvSpPr>
            <p:cNvPr name="Freeform 20" id="20" descr="gc2_cont_angular_leaf_spot.png"/>
            <p:cNvSpPr/>
            <p:nvPr/>
          </p:nvSpPr>
          <p:spPr>
            <a:xfrm flipH="false" flipV="false" rot="0">
              <a:off x="0" y="0"/>
              <a:ext cx="37795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3779520"/>
                  </a:lnTo>
                  <a:lnTo>
                    <a:pt x="0" y="377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080760" y="5760720"/>
            <a:ext cx="2834640" cy="2834640"/>
            <a:chOff x="0" y="0"/>
            <a:chExt cx="3779520" cy="3779520"/>
          </a:xfrm>
        </p:grpSpPr>
        <p:sp>
          <p:nvSpPr>
            <p:cNvPr name="Freeform 22" id="22" descr="gc2_cont_bean_rust.png"/>
            <p:cNvSpPr/>
            <p:nvPr/>
          </p:nvSpPr>
          <p:spPr>
            <a:xfrm flipH="false" flipV="false" rot="0">
              <a:off x="0" y="0"/>
              <a:ext cx="37795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3779520"/>
                  </a:lnTo>
                  <a:lnTo>
                    <a:pt x="0" y="377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0" y="5760720"/>
            <a:ext cx="2834640" cy="2834640"/>
            <a:chOff x="0" y="0"/>
            <a:chExt cx="3779520" cy="3779520"/>
          </a:xfrm>
        </p:grpSpPr>
        <p:sp>
          <p:nvSpPr>
            <p:cNvPr name="Freeform 24" id="24" descr="gc2_cont_healthy.png"/>
            <p:cNvSpPr/>
            <p:nvPr/>
          </p:nvSpPr>
          <p:spPr>
            <a:xfrm flipH="false" flipV="false" rot="0">
              <a:off x="0" y="0"/>
              <a:ext cx="37795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3779520"/>
                  </a:lnTo>
                  <a:lnTo>
                    <a:pt x="0" y="377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200400" y="4846320"/>
            <a:ext cx="2468880" cy="457200"/>
            <a:chOff x="0" y="0"/>
            <a:chExt cx="3291840" cy="609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91840" cy="609600"/>
            </a:xfrm>
            <a:custGeom>
              <a:avLst/>
              <a:gdLst/>
              <a:ahLst/>
              <a:cxnLst/>
              <a:rect r="r" b="b" t="t" l="l"/>
              <a:pathLst>
                <a:path h="609600" w="329184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2987040" y="0"/>
                  </a:lnTo>
                  <a:cubicBezTo>
                    <a:pt x="3155315" y="0"/>
                    <a:pt x="3291840" y="136525"/>
                    <a:pt x="3291840" y="304800"/>
                  </a:cubicBezTo>
                  <a:cubicBezTo>
                    <a:pt x="3291840" y="473075"/>
                    <a:pt x="3155315" y="609600"/>
                    <a:pt x="2987040" y="609600"/>
                  </a:cubicBezTo>
                  <a:lnTo>
                    <a:pt x="304800" y="609600"/>
                  </a:ln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200400" y="4846320"/>
            <a:ext cx="2468880" cy="457200"/>
            <a:chOff x="0" y="0"/>
            <a:chExt cx="3291840" cy="609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91840" cy="609600"/>
            </a:xfrm>
            <a:custGeom>
              <a:avLst/>
              <a:gdLst/>
              <a:ahLst/>
              <a:cxnLst/>
              <a:rect r="r" b="b" t="t" l="l"/>
              <a:pathLst>
                <a:path h="6096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329184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erro: previu ferrugem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24128" y="8823960"/>
            <a:ext cx="1097280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Seed 1001 (artefatos V2). Leitura qualitativa: mapa 5 × 5, e a folha ocupa 49–72% da imagem. Mapa constante aparece todo vermelho.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435840" y="2651760"/>
            <a:ext cx="4828032" cy="1737360"/>
            <a:chOff x="0" y="0"/>
            <a:chExt cx="6437376" cy="23164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437376" cy="2316480"/>
            </a:xfrm>
            <a:custGeom>
              <a:avLst/>
              <a:gdLst/>
              <a:ahLst/>
              <a:cxnLst/>
              <a:rect r="r" b="b" t="t" l="l"/>
              <a:pathLst>
                <a:path h="2316480" w="6437376">
                  <a:moveTo>
                    <a:pt x="0" y="278003"/>
                  </a:moveTo>
                  <a:cubicBezTo>
                    <a:pt x="0" y="124460"/>
                    <a:pt x="124460" y="0"/>
                    <a:pt x="278003" y="0"/>
                  </a:cubicBezTo>
                  <a:lnTo>
                    <a:pt x="6159373" y="0"/>
                  </a:lnTo>
                  <a:cubicBezTo>
                    <a:pt x="6312916" y="0"/>
                    <a:pt x="6437376" y="124460"/>
                    <a:pt x="6437376" y="278003"/>
                  </a:cubicBezTo>
                  <a:lnTo>
                    <a:pt x="6437376" y="2038477"/>
                  </a:lnTo>
                  <a:cubicBezTo>
                    <a:pt x="6437376" y="2192020"/>
                    <a:pt x="6312916" y="2316480"/>
                    <a:pt x="6159373" y="2316480"/>
                  </a:cubicBezTo>
                  <a:lnTo>
                    <a:pt x="278003" y="2316480"/>
                  </a:lnTo>
                  <a:cubicBezTo>
                    <a:pt x="124460" y="2316480"/>
                    <a:pt x="0" y="2192020"/>
                    <a:pt x="0" y="203847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710160" y="3017520"/>
            <a:ext cx="237744" cy="237744"/>
            <a:chOff x="0" y="0"/>
            <a:chExt cx="316992" cy="3169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3121640" y="2916555"/>
            <a:ext cx="397764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Pico sobre a folha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121640" y="3484245"/>
            <a:ext cx="3977640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na maioria dos casos, nas 5 seeds inspecionadas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435840" y="4617720"/>
            <a:ext cx="4828032" cy="1737360"/>
            <a:chOff x="0" y="0"/>
            <a:chExt cx="6437376" cy="23164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37376" cy="2316480"/>
            </a:xfrm>
            <a:custGeom>
              <a:avLst/>
              <a:gdLst/>
              <a:ahLst/>
              <a:cxnLst/>
              <a:rect r="r" b="b" t="t" l="l"/>
              <a:pathLst>
                <a:path h="2316480" w="6437376">
                  <a:moveTo>
                    <a:pt x="0" y="278003"/>
                  </a:moveTo>
                  <a:cubicBezTo>
                    <a:pt x="0" y="124460"/>
                    <a:pt x="124460" y="0"/>
                    <a:pt x="278003" y="0"/>
                  </a:cubicBezTo>
                  <a:lnTo>
                    <a:pt x="6159373" y="0"/>
                  </a:lnTo>
                  <a:cubicBezTo>
                    <a:pt x="6312916" y="0"/>
                    <a:pt x="6437376" y="124460"/>
                    <a:pt x="6437376" y="278003"/>
                  </a:cubicBezTo>
                  <a:lnTo>
                    <a:pt x="6437376" y="2038477"/>
                  </a:lnTo>
                  <a:cubicBezTo>
                    <a:pt x="6437376" y="2192020"/>
                    <a:pt x="6312916" y="2316480"/>
                    <a:pt x="6159373" y="2316480"/>
                  </a:cubicBezTo>
                  <a:lnTo>
                    <a:pt x="278003" y="2316480"/>
                  </a:lnTo>
                  <a:cubicBezTo>
                    <a:pt x="124460" y="2316480"/>
                    <a:pt x="0" y="2192020"/>
                    <a:pt x="0" y="203847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710160" y="4983480"/>
            <a:ext cx="237744" cy="237744"/>
            <a:chOff x="0" y="0"/>
            <a:chExt cx="316992" cy="3169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3121640" y="4882515"/>
            <a:ext cx="397764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Erro: pico fora da folha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121640" y="5450205"/>
            <a:ext cx="3977640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nos 3 erros inspecionados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2435840" y="6583680"/>
            <a:ext cx="4828032" cy="1737360"/>
            <a:chOff x="0" y="0"/>
            <a:chExt cx="6437376" cy="23164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437376" cy="2316480"/>
            </a:xfrm>
            <a:custGeom>
              <a:avLst/>
              <a:gdLst/>
              <a:ahLst/>
              <a:cxnLst/>
              <a:rect r="r" b="b" t="t" l="l"/>
              <a:pathLst>
                <a:path h="2316480" w="6437376">
                  <a:moveTo>
                    <a:pt x="0" y="278003"/>
                  </a:moveTo>
                  <a:cubicBezTo>
                    <a:pt x="0" y="124460"/>
                    <a:pt x="124460" y="0"/>
                    <a:pt x="278003" y="0"/>
                  </a:cubicBezTo>
                  <a:lnTo>
                    <a:pt x="6159373" y="0"/>
                  </a:lnTo>
                  <a:cubicBezTo>
                    <a:pt x="6312916" y="0"/>
                    <a:pt x="6437376" y="124460"/>
                    <a:pt x="6437376" y="278003"/>
                  </a:cubicBezTo>
                  <a:lnTo>
                    <a:pt x="6437376" y="2038477"/>
                  </a:lnTo>
                  <a:cubicBezTo>
                    <a:pt x="6437376" y="2192020"/>
                    <a:pt x="6312916" y="2316480"/>
                    <a:pt x="6159373" y="2316480"/>
                  </a:cubicBezTo>
                  <a:lnTo>
                    <a:pt x="278003" y="2316480"/>
                  </a:lnTo>
                  <a:cubicBezTo>
                    <a:pt x="124460" y="2316480"/>
                    <a:pt x="0" y="2192020"/>
                    <a:pt x="0" y="203847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710160" y="6949440"/>
            <a:ext cx="237744" cy="237744"/>
            <a:chOff x="0" y="0"/>
            <a:chExt cx="316992" cy="3169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8C8C8C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3121640" y="6848475"/>
            <a:ext cx="397764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87/90 mapas uniformes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121640" y="7416165"/>
            <a:ext cx="3977640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pesos aleatórios: reflexo da saída constante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435840" y="8823960"/>
            <a:ext cx="4828032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180 painéis: 3 imagens × 30 seeds × 2 soluções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Rafael Barros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Análise e Interpretação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Diagnóstico: a pista que muda tudo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91440" y="941832"/>
            <a:ext cx="13386816" cy="9454896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12527280" y="2148840"/>
            <a:ext cx="4736592" cy="1737360"/>
            <a:chOff x="0" y="0"/>
            <a:chExt cx="6315456" cy="2316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15456" cy="2316480"/>
            </a:xfrm>
            <a:custGeom>
              <a:avLst/>
              <a:gdLst/>
              <a:ahLst/>
              <a:cxnLst/>
              <a:rect r="r" b="b" t="t" l="l"/>
              <a:pathLst>
                <a:path h="2316480" w="6315456">
                  <a:moveTo>
                    <a:pt x="0" y="278003"/>
                  </a:moveTo>
                  <a:cubicBezTo>
                    <a:pt x="0" y="124460"/>
                    <a:pt x="124460" y="0"/>
                    <a:pt x="278003" y="0"/>
                  </a:cubicBezTo>
                  <a:lnTo>
                    <a:pt x="6037453" y="0"/>
                  </a:lnTo>
                  <a:cubicBezTo>
                    <a:pt x="6190996" y="0"/>
                    <a:pt x="6315456" y="124460"/>
                    <a:pt x="6315456" y="278003"/>
                  </a:cubicBezTo>
                  <a:lnTo>
                    <a:pt x="6315456" y="2038477"/>
                  </a:lnTo>
                  <a:cubicBezTo>
                    <a:pt x="6315456" y="2192020"/>
                    <a:pt x="6190996" y="2316480"/>
                    <a:pt x="6037453" y="2316480"/>
                  </a:cubicBezTo>
                  <a:lnTo>
                    <a:pt x="278003" y="2316480"/>
                  </a:lnTo>
                  <a:cubicBezTo>
                    <a:pt x="124460" y="2316480"/>
                    <a:pt x="0" y="2192020"/>
                    <a:pt x="0" y="203847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801600" y="2350008"/>
            <a:ext cx="429768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0,48 → 0,97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01600" y="3063240"/>
            <a:ext cx="429768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acurácia de treino da rede aleatória (época 1 → 100)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527280" y="4114800"/>
            <a:ext cx="4736592" cy="1737360"/>
            <a:chOff x="0" y="0"/>
            <a:chExt cx="6315456" cy="23164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15456" cy="2316480"/>
            </a:xfrm>
            <a:custGeom>
              <a:avLst/>
              <a:gdLst/>
              <a:ahLst/>
              <a:cxnLst/>
              <a:rect r="r" b="b" t="t" l="l"/>
              <a:pathLst>
                <a:path h="2316480" w="6315456">
                  <a:moveTo>
                    <a:pt x="0" y="278003"/>
                  </a:moveTo>
                  <a:cubicBezTo>
                    <a:pt x="0" y="124460"/>
                    <a:pt x="124460" y="0"/>
                    <a:pt x="278003" y="0"/>
                  </a:cubicBezTo>
                  <a:lnTo>
                    <a:pt x="6037453" y="0"/>
                  </a:lnTo>
                  <a:cubicBezTo>
                    <a:pt x="6190996" y="0"/>
                    <a:pt x="6315456" y="124460"/>
                    <a:pt x="6315456" y="278003"/>
                  </a:cubicBezTo>
                  <a:lnTo>
                    <a:pt x="6315456" y="2038477"/>
                  </a:lnTo>
                  <a:cubicBezTo>
                    <a:pt x="6315456" y="2192020"/>
                    <a:pt x="6190996" y="2316480"/>
                    <a:pt x="6037453" y="2316480"/>
                  </a:cubicBezTo>
                  <a:lnTo>
                    <a:pt x="278003" y="2316480"/>
                  </a:lnTo>
                  <a:cubicBezTo>
                    <a:pt x="124460" y="2316480"/>
                    <a:pt x="0" y="2192020"/>
                    <a:pt x="0" y="203847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801600" y="4315968"/>
            <a:ext cx="429768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1,02 → 0,08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01600" y="5029200"/>
            <a:ext cx="429768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perda de treino caindo: ela aprendeu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527280" y="6080760"/>
            <a:ext cx="4736592" cy="1737360"/>
            <a:chOff x="0" y="0"/>
            <a:chExt cx="6315456" cy="2316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15456" cy="2316480"/>
            </a:xfrm>
            <a:custGeom>
              <a:avLst/>
              <a:gdLst/>
              <a:ahLst/>
              <a:cxnLst/>
              <a:rect r="r" b="b" t="t" l="l"/>
              <a:pathLst>
                <a:path h="2316480" w="6315456">
                  <a:moveTo>
                    <a:pt x="0" y="278003"/>
                  </a:moveTo>
                  <a:cubicBezTo>
                    <a:pt x="0" y="124460"/>
                    <a:pt x="124460" y="0"/>
                    <a:pt x="278003" y="0"/>
                  </a:cubicBezTo>
                  <a:lnTo>
                    <a:pt x="6037453" y="0"/>
                  </a:lnTo>
                  <a:cubicBezTo>
                    <a:pt x="6190996" y="0"/>
                    <a:pt x="6315456" y="124460"/>
                    <a:pt x="6315456" y="278003"/>
                  </a:cubicBezTo>
                  <a:lnTo>
                    <a:pt x="6315456" y="2038477"/>
                  </a:lnTo>
                  <a:cubicBezTo>
                    <a:pt x="6315456" y="2192020"/>
                    <a:pt x="6190996" y="2316480"/>
                    <a:pt x="6037453" y="2316480"/>
                  </a:cubicBezTo>
                  <a:lnTo>
                    <a:pt x="278003" y="2316480"/>
                  </a:lnTo>
                  <a:cubicBezTo>
                    <a:pt x="124460" y="2316480"/>
                    <a:pt x="0" y="2192020"/>
                    <a:pt x="0" y="203847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801600" y="6281928"/>
            <a:ext cx="429768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8C8C8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0,336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01600" y="6995160"/>
            <a:ext cx="429768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validação da mesma rede, em todas as 100 épocas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527280" y="8092440"/>
            <a:ext cx="4736592" cy="1188720"/>
            <a:chOff x="0" y="0"/>
            <a:chExt cx="6315456" cy="1584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15456" cy="1585087"/>
            </a:xfrm>
            <a:custGeom>
              <a:avLst/>
              <a:gdLst/>
              <a:ahLst/>
              <a:cxnLst/>
              <a:rect r="r" b="b" t="t" l="l"/>
              <a:pathLst>
                <a:path h="1585087" w="6315456">
                  <a:moveTo>
                    <a:pt x="0" y="190246"/>
                  </a:moveTo>
                  <a:cubicBezTo>
                    <a:pt x="0" y="85090"/>
                    <a:pt x="85090" y="0"/>
                    <a:pt x="190246" y="0"/>
                  </a:cubicBezTo>
                  <a:lnTo>
                    <a:pt x="6125210" y="0"/>
                  </a:lnTo>
                  <a:cubicBezTo>
                    <a:pt x="6230239" y="0"/>
                    <a:pt x="6315456" y="85090"/>
                    <a:pt x="6315456" y="190246"/>
                  </a:cubicBezTo>
                  <a:lnTo>
                    <a:pt x="6315456" y="1394841"/>
                  </a:lnTo>
                  <a:cubicBezTo>
                    <a:pt x="6315456" y="1499870"/>
                    <a:pt x="6230366" y="1585087"/>
                    <a:pt x="6125210" y="1585087"/>
                  </a:cubicBezTo>
                  <a:lnTo>
                    <a:pt x="190246" y="1585087"/>
                  </a:lnTo>
                  <a:cubicBezTo>
                    <a:pt x="85090" y="1584960"/>
                    <a:pt x="0" y="1499870"/>
                    <a:pt x="0" y="139471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755880" y="8092440"/>
            <a:ext cx="4297680" cy="1188720"/>
            <a:chOff x="0" y="0"/>
            <a:chExt cx="5730240" cy="1584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7302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45" r="0" b="-2044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5730240" cy="1575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A pista: algo muda entre o treino e a avaliação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Ygor Rosa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Análise e Interpretação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Os suspeitos: a configuração (e o que a Tabela 2 não mostra)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44168" y="2011680"/>
            <a:ext cx="594360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B4B4B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CONFIGURAÇÃO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06640" y="2011680"/>
            <a:ext cx="713232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B4B4B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 QUE OS DADOS MOSTRAM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13280" y="2011680"/>
            <a:ext cx="224028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B4B4B4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VEREDITO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4128" y="2423160"/>
            <a:ext cx="16239744" cy="868680"/>
            <a:chOff x="0" y="0"/>
            <a:chExt cx="21652992" cy="1158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652992" cy="1158240"/>
            </a:xfrm>
            <a:custGeom>
              <a:avLst/>
              <a:gdLst/>
              <a:ahLst/>
              <a:cxnLst/>
              <a:rect r="r" b="b" t="t" l="l"/>
              <a:pathLst>
                <a:path h="1158240" w="21652992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lnTo>
                    <a:pt x="21421344" y="0"/>
                  </a:lnTo>
                  <a:cubicBezTo>
                    <a:pt x="21549233" y="0"/>
                    <a:pt x="21652992" y="103759"/>
                    <a:pt x="21652992" y="231648"/>
                  </a:cubicBezTo>
                  <a:lnTo>
                    <a:pt x="21652992" y="926592"/>
                  </a:lnTo>
                  <a:cubicBezTo>
                    <a:pt x="21652992" y="1054481"/>
                    <a:pt x="21549233" y="1158240"/>
                    <a:pt x="21421344" y="1158240"/>
                  </a:cubicBezTo>
                  <a:lnTo>
                    <a:pt x="231648" y="1158240"/>
                  </a:lnTo>
                  <a:cubicBezTo>
                    <a:pt x="103759" y="1158240"/>
                    <a:pt x="0" y="1054481"/>
                    <a:pt x="0" y="92659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44168" y="2423160"/>
            <a:ext cx="6035040" cy="868680"/>
            <a:chOff x="0" y="0"/>
            <a:chExt cx="8046720" cy="11582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46720" cy="1158240"/>
            </a:xfrm>
            <a:custGeom>
              <a:avLst/>
              <a:gdLst/>
              <a:ahLst/>
              <a:cxnLst/>
              <a:rect r="r" b="b" t="t" l="l"/>
              <a:pathLst>
                <a:path h="11582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369" r="0" b="-8536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804672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Taxa de aprendizado 10⁻⁴ fixa, sem warmup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406640" y="2423160"/>
            <a:ext cx="7223760" cy="868680"/>
            <a:chOff x="0" y="0"/>
            <a:chExt cx="9631680" cy="1158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3168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33" r="0" b="-11203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63168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1F1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acurácia de treino chega a 0,97: não impediu o aprendizado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813280" y="2606040"/>
            <a:ext cx="2240280" cy="502920"/>
            <a:chOff x="0" y="0"/>
            <a:chExt cx="2987040" cy="670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335280"/>
                  </a:moveTo>
                  <a:cubicBezTo>
                    <a:pt x="0" y="150114"/>
                    <a:pt x="150114" y="0"/>
                    <a:pt x="335280" y="0"/>
                  </a:cubicBezTo>
                  <a:lnTo>
                    <a:pt x="2651760" y="0"/>
                  </a:lnTo>
                  <a:cubicBezTo>
                    <a:pt x="2836926" y="0"/>
                    <a:pt x="2987040" y="150114"/>
                    <a:pt x="2987040" y="335280"/>
                  </a:cubicBezTo>
                  <a:cubicBezTo>
                    <a:pt x="2987040" y="520446"/>
                    <a:pt x="2836926" y="670560"/>
                    <a:pt x="2651760" y="670560"/>
                  </a:cubicBezTo>
                  <a:lnTo>
                    <a:pt x="335280" y="670560"/>
                  </a:lnTo>
                  <a:cubicBezTo>
                    <a:pt x="150114" y="670560"/>
                    <a:pt x="0" y="520446"/>
                    <a:pt x="0" y="3352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813280" y="2606040"/>
            <a:ext cx="2240280" cy="502920"/>
            <a:chOff x="0" y="0"/>
            <a:chExt cx="2987040" cy="670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0"/>
                  </a:moveTo>
                  <a:lnTo>
                    <a:pt x="2987040" y="0"/>
                  </a:lnTo>
                  <a:lnTo>
                    <a:pt x="298704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96" r="0" b="-367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987040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6B6B6B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INOCENTADA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4128" y="3410712"/>
            <a:ext cx="16239744" cy="868680"/>
            <a:chOff x="0" y="0"/>
            <a:chExt cx="21652992" cy="1158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652992" cy="1158240"/>
            </a:xfrm>
            <a:custGeom>
              <a:avLst/>
              <a:gdLst/>
              <a:ahLst/>
              <a:cxnLst/>
              <a:rect r="r" b="b" t="t" l="l"/>
              <a:pathLst>
                <a:path h="1158240" w="21652992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lnTo>
                    <a:pt x="21421344" y="0"/>
                  </a:lnTo>
                  <a:cubicBezTo>
                    <a:pt x="21549233" y="0"/>
                    <a:pt x="21652992" y="103759"/>
                    <a:pt x="21652992" y="231648"/>
                  </a:cubicBezTo>
                  <a:lnTo>
                    <a:pt x="21652992" y="926592"/>
                  </a:lnTo>
                  <a:cubicBezTo>
                    <a:pt x="21652992" y="1054481"/>
                    <a:pt x="21549233" y="1158240"/>
                    <a:pt x="21421344" y="1158240"/>
                  </a:cubicBezTo>
                  <a:lnTo>
                    <a:pt x="231648" y="1158240"/>
                  </a:lnTo>
                  <a:cubicBezTo>
                    <a:pt x="103759" y="1158240"/>
                    <a:pt x="0" y="1054481"/>
                    <a:pt x="0" y="92659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44168" y="3410712"/>
            <a:ext cx="6035040" cy="868680"/>
            <a:chOff x="0" y="0"/>
            <a:chExt cx="8046720" cy="11582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046720" cy="1158240"/>
            </a:xfrm>
            <a:custGeom>
              <a:avLst/>
              <a:gdLst/>
              <a:ahLst/>
              <a:cxnLst/>
              <a:rect r="r" b="b" t="t" l="l"/>
              <a:pathLst>
                <a:path h="11582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369" r="0" b="-8536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804672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33 passos/época × 100 épocas = 3.300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406640" y="3410712"/>
            <a:ext cx="7223760" cy="868680"/>
            <a:chOff x="0" y="0"/>
            <a:chExt cx="9631680" cy="1158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63168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33" r="0" b="-11203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963168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1F1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treino converge; mas atrasa, em épocas, tudo que depende de passos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813280" y="3593592"/>
            <a:ext cx="2240280" cy="502920"/>
            <a:chOff x="0" y="0"/>
            <a:chExt cx="2987040" cy="6705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335280"/>
                  </a:moveTo>
                  <a:cubicBezTo>
                    <a:pt x="0" y="150114"/>
                    <a:pt x="150114" y="0"/>
                    <a:pt x="335280" y="0"/>
                  </a:cubicBezTo>
                  <a:lnTo>
                    <a:pt x="2651760" y="0"/>
                  </a:lnTo>
                  <a:cubicBezTo>
                    <a:pt x="2836926" y="0"/>
                    <a:pt x="2987040" y="150114"/>
                    <a:pt x="2987040" y="335280"/>
                  </a:cubicBezTo>
                  <a:cubicBezTo>
                    <a:pt x="2987040" y="520446"/>
                    <a:pt x="2836926" y="670560"/>
                    <a:pt x="2651760" y="670560"/>
                  </a:cubicBezTo>
                  <a:lnTo>
                    <a:pt x="335280" y="670560"/>
                  </a:lnTo>
                  <a:cubicBezTo>
                    <a:pt x="150114" y="670560"/>
                    <a:pt x="0" y="520446"/>
                    <a:pt x="0" y="335280"/>
                  </a:cubicBezTo>
                  <a:close/>
                </a:path>
              </a:pathLst>
            </a:custGeom>
            <a:solidFill>
              <a:srgbClr val="8C8C8C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813280" y="3593592"/>
            <a:ext cx="2240280" cy="502920"/>
            <a:chOff x="0" y="0"/>
            <a:chExt cx="2987040" cy="6705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0"/>
                  </a:moveTo>
                  <a:lnTo>
                    <a:pt x="2987040" y="0"/>
                  </a:lnTo>
                  <a:lnTo>
                    <a:pt x="298704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96" r="0" b="-3679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987040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AGRAVANTE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24128" y="4398264"/>
            <a:ext cx="16239744" cy="868680"/>
            <a:chOff x="0" y="0"/>
            <a:chExt cx="21652992" cy="11582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652992" cy="1158240"/>
            </a:xfrm>
            <a:custGeom>
              <a:avLst/>
              <a:gdLst/>
              <a:ahLst/>
              <a:cxnLst/>
              <a:rect r="r" b="b" t="t" l="l"/>
              <a:pathLst>
                <a:path h="1158240" w="21652992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lnTo>
                    <a:pt x="21421344" y="0"/>
                  </a:lnTo>
                  <a:cubicBezTo>
                    <a:pt x="21549233" y="0"/>
                    <a:pt x="21652992" y="103759"/>
                    <a:pt x="21652992" y="231648"/>
                  </a:cubicBezTo>
                  <a:lnTo>
                    <a:pt x="21652992" y="926592"/>
                  </a:lnTo>
                  <a:cubicBezTo>
                    <a:pt x="21652992" y="1054481"/>
                    <a:pt x="21549233" y="1158240"/>
                    <a:pt x="21421344" y="1158240"/>
                  </a:cubicBezTo>
                  <a:lnTo>
                    <a:pt x="231648" y="1158240"/>
                  </a:lnTo>
                  <a:cubicBezTo>
                    <a:pt x="103759" y="1158240"/>
                    <a:pt x="0" y="1054481"/>
                    <a:pt x="0" y="92659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44168" y="4398264"/>
            <a:ext cx="6035040" cy="868680"/>
            <a:chOff x="0" y="0"/>
            <a:chExt cx="8046720" cy="1158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046720" cy="1158240"/>
            </a:xfrm>
            <a:custGeom>
              <a:avLst/>
              <a:gdLst/>
              <a:ahLst/>
              <a:cxnLst/>
              <a:rect r="r" b="b" t="t" l="l"/>
              <a:pathLst>
                <a:path h="11582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369" r="0" b="-8536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804672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L2 de 10⁻⁴ só na cabeça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406640" y="4398264"/>
            <a:ext cx="7223760" cy="868680"/>
            <a:chOff x="0" y="0"/>
            <a:chExt cx="9631680" cy="1158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63168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33" r="0" b="-11203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963168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1F1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≈ 0,0006 na perda: não explica a validação em 3,06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813280" y="4581144"/>
            <a:ext cx="2240280" cy="502920"/>
            <a:chOff x="0" y="0"/>
            <a:chExt cx="2987040" cy="6705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335280"/>
                  </a:moveTo>
                  <a:cubicBezTo>
                    <a:pt x="0" y="150114"/>
                    <a:pt x="150114" y="0"/>
                    <a:pt x="335280" y="0"/>
                  </a:cubicBezTo>
                  <a:lnTo>
                    <a:pt x="2651760" y="0"/>
                  </a:lnTo>
                  <a:cubicBezTo>
                    <a:pt x="2836926" y="0"/>
                    <a:pt x="2987040" y="150114"/>
                    <a:pt x="2987040" y="335280"/>
                  </a:cubicBezTo>
                  <a:cubicBezTo>
                    <a:pt x="2987040" y="520446"/>
                    <a:pt x="2836926" y="670560"/>
                    <a:pt x="2651760" y="670560"/>
                  </a:cubicBezTo>
                  <a:lnTo>
                    <a:pt x="335280" y="670560"/>
                  </a:lnTo>
                  <a:cubicBezTo>
                    <a:pt x="150114" y="670560"/>
                    <a:pt x="0" y="520446"/>
                    <a:pt x="0" y="3352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813280" y="4581144"/>
            <a:ext cx="2240280" cy="502920"/>
            <a:chOff x="0" y="0"/>
            <a:chExt cx="2987040" cy="6705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0"/>
                  </a:moveTo>
                  <a:lnTo>
                    <a:pt x="2987040" y="0"/>
                  </a:lnTo>
                  <a:lnTo>
                    <a:pt x="298704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96" r="0" b="-3679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2987040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6B6B6B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INOCENTADA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24128" y="5385816"/>
            <a:ext cx="16239744" cy="868680"/>
            <a:chOff x="0" y="0"/>
            <a:chExt cx="21652992" cy="11582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652992" cy="1158240"/>
            </a:xfrm>
            <a:custGeom>
              <a:avLst/>
              <a:gdLst/>
              <a:ahLst/>
              <a:cxnLst/>
              <a:rect r="r" b="b" t="t" l="l"/>
              <a:pathLst>
                <a:path h="1158240" w="21652992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lnTo>
                    <a:pt x="21421344" y="0"/>
                  </a:lnTo>
                  <a:cubicBezTo>
                    <a:pt x="21549233" y="0"/>
                    <a:pt x="21652992" y="103759"/>
                    <a:pt x="21652992" y="231648"/>
                  </a:cubicBezTo>
                  <a:lnTo>
                    <a:pt x="21652992" y="926592"/>
                  </a:lnTo>
                  <a:cubicBezTo>
                    <a:pt x="21652992" y="1054481"/>
                    <a:pt x="21549233" y="1158240"/>
                    <a:pt x="21421344" y="1158240"/>
                  </a:cubicBezTo>
                  <a:lnTo>
                    <a:pt x="231648" y="1158240"/>
                  </a:lnTo>
                  <a:cubicBezTo>
                    <a:pt x="103759" y="1158240"/>
                    <a:pt x="0" y="1054481"/>
                    <a:pt x="0" y="92659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44168" y="5385816"/>
            <a:ext cx="6035040" cy="868680"/>
            <a:chOff x="0" y="0"/>
            <a:chExt cx="8046720" cy="11582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046720" cy="1158240"/>
            </a:xfrm>
            <a:custGeom>
              <a:avLst/>
              <a:gdLst/>
              <a:ahLst/>
              <a:cxnLst/>
              <a:rect r="r" b="b" t="t" l="l"/>
              <a:pathLst>
                <a:path h="11582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369" r="0" b="-8536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804672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Dropout 0,2 e aumentos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406640" y="5385816"/>
            <a:ext cx="7223760" cy="868680"/>
            <a:chOff x="0" y="0"/>
            <a:chExt cx="9631680" cy="11582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63168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33" r="0" b="-11203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963168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1F1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idênticos nos dois ramos; a ImageNet funciona com eles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813280" y="5568696"/>
            <a:ext cx="2240280" cy="502920"/>
            <a:chOff x="0" y="0"/>
            <a:chExt cx="2987040" cy="6705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335280"/>
                  </a:moveTo>
                  <a:cubicBezTo>
                    <a:pt x="0" y="150114"/>
                    <a:pt x="150114" y="0"/>
                    <a:pt x="335280" y="0"/>
                  </a:cubicBezTo>
                  <a:lnTo>
                    <a:pt x="2651760" y="0"/>
                  </a:lnTo>
                  <a:cubicBezTo>
                    <a:pt x="2836926" y="0"/>
                    <a:pt x="2987040" y="150114"/>
                    <a:pt x="2987040" y="335280"/>
                  </a:cubicBezTo>
                  <a:cubicBezTo>
                    <a:pt x="2987040" y="520446"/>
                    <a:pt x="2836926" y="670560"/>
                    <a:pt x="2651760" y="670560"/>
                  </a:cubicBezTo>
                  <a:lnTo>
                    <a:pt x="335280" y="670560"/>
                  </a:lnTo>
                  <a:cubicBezTo>
                    <a:pt x="150114" y="670560"/>
                    <a:pt x="0" y="520446"/>
                    <a:pt x="0" y="3352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813280" y="5568696"/>
            <a:ext cx="2240280" cy="502920"/>
            <a:chOff x="0" y="0"/>
            <a:chExt cx="2987040" cy="6705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0"/>
                  </a:moveTo>
                  <a:lnTo>
                    <a:pt x="2987040" y="0"/>
                  </a:lnTo>
                  <a:lnTo>
                    <a:pt x="298704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96" r="0" b="-3679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2987040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6B6B6B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INOCENTADOS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24128" y="6373368"/>
            <a:ext cx="16239744" cy="868680"/>
            <a:chOff x="0" y="0"/>
            <a:chExt cx="21652992" cy="11582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652992" cy="1158240"/>
            </a:xfrm>
            <a:custGeom>
              <a:avLst/>
              <a:gdLst/>
              <a:ahLst/>
              <a:cxnLst/>
              <a:rect r="r" b="b" t="t" l="l"/>
              <a:pathLst>
                <a:path h="1158240" w="21652992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lnTo>
                    <a:pt x="21421344" y="0"/>
                  </a:lnTo>
                  <a:cubicBezTo>
                    <a:pt x="21549233" y="0"/>
                    <a:pt x="21652992" y="103759"/>
                    <a:pt x="21652992" y="231648"/>
                  </a:cubicBezTo>
                  <a:lnTo>
                    <a:pt x="21652992" y="926592"/>
                  </a:lnTo>
                  <a:cubicBezTo>
                    <a:pt x="21652992" y="1054481"/>
                    <a:pt x="21549233" y="1158240"/>
                    <a:pt x="21421344" y="1158240"/>
                  </a:cubicBezTo>
                  <a:lnTo>
                    <a:pt x="231648" y="1158240"/>
                  </a:lnTo>
                  <a:cubicBezTo>
                    <a:pt x="103759" y="1158240"/>
                    <a:pt x="0" y="1054481"/>
                    <a:pt x="0" y="92659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344168" y="6373368"/>
            <a:ext cx="6035040" cy="868680"/>
            <a:chOff x="0" y="0"/>
            <a:chExt cx="8046720" cy="11582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046720" cy="1158240"/>
            </a:xfrm>
            <a:custGeom>
              <a:avLst/>
              <a:gdLst/>
              <a:ahLst/>
              <a:cxnLst/>
              <a:rect r="r" b="b" t="t" l="l"/>
              <a:pathLst>
                <a:path h="11582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369" r="0" b="-8536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804672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Seleção pela menor perda de validação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7406640" y="6373368"/>
            <a:ext cx="7223760" cy="868680"/>
            <a:chOff x="0" y="0"/>
            <a:chExt cx="9631680" cy="11582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63168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33" r="0" b="-11203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963168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1F1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escolheu as épocas 1 a 4 em 29 de 30 seeds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813280" y="6556248"/>
            <a:ext cx="2240280" cy="502920"/>
            <a:chOff x="0" y="0"/>
            <a:chExt cx="2987040" cy="6705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335280"/>
                  </a:moveTo>
                  <a:cubicBezTo>
                    <a:pt x="0" y="150114"/>
                    <a:pt x="150114" y="0"/>
                    <a:pt x="335280" y="0"/>
                  </a:cubicBezTo>
                  <a:lnTo>
                    <a:pt x="2651760" y="0"/>
                  </a:lnTo>
                  <a:cubicBezTo>
                    <a:pt x="2836926" y="0"/>
                    <a:pt x="2987040" y="150114"/>
                    <a:pt x="2987040" y="335280"/>
                  </a:cubicBezTo>
                  <a:cubicBezTo>
                    <a:pt x="2987040" y="520446"/>
                    <a:pt x="2836926" y="670560"/>
                    <a:pt x="2651760" y="670560"/>
                  </a:cubicBezTo>
                  <a:lnTo>
                    <a:pt x="335280" y="670560"/>
                  </a:lnTo>
                  <a:cubicBezTo>
                    <a:pt x="150114" y="670560"/>
                    <a:pt x="0" y="520446"/>
                    <a:pt x="0" y="335280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4813280" y="6556248"/>
            <a:ext cx="2240280" cy="502920"/>
            <a:chOff x="0" y="0"/>
            <a:chExt cx="2987040" cy="6705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0"/>
                  </a:moveTo>
                  <a:lnTo>
                    <a:pt x="2987040" y="0"/>
                  </a:lnTo>
                  <a:lnTo>
                    <a:pt x="298704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96" r="0" b="-3679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2987040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CÚMPLICE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24128" y="7360920"/>
            <a:ext cx="16239744" cy="868680"/>
            <a:chOff x="0" y="0"/>
            <a:chExt cx="21652992" cy="11582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1652992" cy="1158240"/>
            </a:xfrm>
            <a:custGeom>
              <a:avLst/>
              <a:gdLst/>
              <a:ahLst/>
              <a:cxnLst/>
              <a:rect r="r" b="b" t="t" l="l"/>
              <a:pathLst>
                <a:path h="1158240" w="21652992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lnTo>
                    <a:pt x="21421344" y="0"/>
                  </a:lnTo>
                  <a:cubicBezTo>
                    <a:pt x="21549233" y="0"/>
                    <a:pt x="21652992" y="103759"/>
                    <a:pt x="21652992" y="231648"/>
                  </a:cubicBezTo>
                  <a:lnTo>
                    <a:pt x="21652992" y="926592"/>
                  </a:lnTo>
                  <a:cubicBezTo>
                    <a:pt x="21652992" y="1054481"/>
                    <a:pt x="21549233" y="1158240"/>
                    <a:pt x="21421344" y="1158240"/>
                  </a:cubicBezTo>
                  <a:lnTo>
                    <a:pt x="231648" y="1158240"/>
                  </a:lnTo>
                  <a:cubicBezTo>
                    <a:pt x="103759" y="1158240"/>
                    <a:pt x="0" y="1054481"/>
                    <a:pt x="0" y="92659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1344168" y="7434072"/>
            <a:ext cx="603504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Inicialização Glorot uniforme na base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344168" y="7836027"/>
            <a:ext cx="603504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i="true">
                <a:solidFill>
                  <a:srgbClr val="6B6B6B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padrão do Keras · fora da Tabela 2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7406640" y="7360920"/>
            <a:ext cx="7223760" cy="868680"/>
            <a:chOff x="0" y="0"/>
            <a:chExt cx="9631680" cy="11582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63168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33" r="0" b="-112033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963168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1F1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52 camadas com ReLU6: o sinal encolhe a cada bloco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4813280" y="7543800"/>
            <a:ext cx="2240280" cy="502920"/>
            <a:chOff x="0" y="0"/>
            <a:chExt cx="2987040" cy="6705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335280"/>
                  </a:moveTo>
                  <a:cubicBezTo>
                    <a:pt x="0" y="150114"/>
                    <a:pt x="150114" y="0"/>
                    <a:pt x="335280" y="0"/>
                  </a:cubicBezTo>
                  <a:lnTo>
                    <a:pt x="2651760" y="0"/>
                  </a:lnTo>
                  <a:cubicBezTo>
                    <a:pt x="2836926" y="0"/>
                    <a:pt x="2987040" y="150114"/>
                    <a:pt x="2987040" y="335280"/>
                  </a:cubicBezTo>
                  <a:cubicBezTo>
                    <a:pt x="2987040" y="520446"/>
                    <a:pt x="2836926" y="670560"/>
                    <a:pt x="2651760" y="670560"/>
                  </a:cubicBezTo>
                  <a:lnTo>
                    <a:pt x="335280" y="670560"/>
                  </a:lnTo>
                  <a:cubicBezTo>
                    <a:pt x="150114" y="670560"/>
                    <a:pt x="0" y="520446"/>
                    <a:pt x="0" y="335280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4813280" y="7543800"/>
            <a:ext cx="2240280" cy="502920"/>
            <a:chOff x="0" y="0"/>
            <a:chExt cx="2987040" cy="6705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0"/>
                  </a:moveTo>
                  <a:lnTo>
                    <a:pt x="2987040" y="0"/>
                  </a:lnTo>
                  <a:lnTo>
                    <a:pt x="298704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96" r="0" b="-36796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2987040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CÚMPLICE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24128" y="8348472"/>
            <a:ext cx="16239744" cy="868680"/>
            <a:chOff x="0" y="0"/>
            <a:chExt cx="21652992" cy="11582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1652992" cy="1158240"/>
            </a:xfrm>
            <a:custGeom>
              <a:avLst/>
              <a:gdLst/>
              <a:ahLst/>
              <a:cxnLst/>
              <a:rect r="r" b="b" t="t" l="l"/>
              <a:pathLst>
                <a:path h="1158240" w="21652992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lnTo>
                    <a:pt x="21421344" y="0"/>
                  </a:lnTo>
                  <a:cubicBezTo>
                    <a:pt x="21549233" y="0"/>
                    <a:pt x="21652992" y="103759"/>
                    <a:pt x="21652992" y="231648"/>
                  </a:cubicBezTo>
                  <a:lnTo>
                    <a:pt x="21652992" y="926592"/>
                  </a:lnTo>
                  <a:cubicBezTo>
                    <a:pt x="21652992" y="1054481"/>
                    <a:pt x="21549233" y="1158240"/>
                    <a:pt x="21421344" y="1158240"/>
                  </a:cubicBezTo>
                  <a:lnTo>
                    <a:pt x="231648" y="1158240"/>
                  </a:lnTo>
                  <a:cubicBezTo>
                    <a:pt x="103759" y="1158240"/>
                    <a:pt x="0" y="1054481"/>
                    <a:pt x="0" y="926592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</p:grpSp>
      <p:sp>
        <p:nvSpPr>
          <p:cNvPr name="TextBox 86" id="86"/>
          <p:cNvSpPr txBox="true"/>
          <p:nvPr/>
        </p:nvSpPr>
        <p:spPr>
          <a:xfrm rot="0">
            <a:off x="1344168" y="8421624"/>
            <a:ext cx="60350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BatchNorm com momentum 0,999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344168" y="8823579"/>
            <a:ext cx="603504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i="true">
                <a:solidFill>
                  <a:srgbClr val="6B6B6B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padrão do Keras · fora da Tabela 2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7406640" y="8348472"/>
            <a:ext cx="7223760" cy="868680"/>
            <a:chOff x="0" y="0"/>
            <a:chExt cx="9631680" cy="11582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63168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033" r="0" b="-112033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963168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1F1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médias de avaliação ficam quase iniciais nas primeiras épocas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4813280" y="8531352"/>
            <a:ext cx="2240280" cy="502920"/>
            <a:chOff x="0" y="0"/>
            <a:chExt cx="2987040" cy="67056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335280"/>
                  </a:moveTo>
                  <a:cubicBezTo>
                    <a:pt x="0" y="150114"/>
                    <a:pt x="150114" y="0"/>
                    <a:pt x="335280" y="0"/>
                  </a:cubicBezTo>
                  <a:lnTo>
                    <a:pt x="2651760" y="0"/>
                  </a:lnTo>
                  <a:cubicBezTo>
                    <a:pt x="2836926" y="0"/>
                    <a:pt x="2987040" y="150114"/>
                    <a:pt x="2987040" y="335280"/>
                  </a:cubicBezTo>
                  <a:cubicBezTo>
                    <a:pt x="2987040" y="520446"/>
                    <a:pt x="2836926" y="670560"/>
                    <a:pt x="2651760" y="670560"/>
                  </a:cubicBezTo>
                  <a:lnTo>
                    <a:pt x="335280" y="670560"/>
                  </a:lnTo>
                  <a:cubicBezTo>
                    <a:pt x="150114" y="670560"/>
                    <a:pt x="0" y="520446"/>
                    <a:pt x="0" y="33528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4813280" y="8531352"/>
            <a:ext cx="2240280" cy="502920"/>
            <a:chOff x="0" y="0"/>
            <a:chExt cx="2987040" cy="67056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987040" cy="670560"/>
            </a:xfrm>
            <a:custGeom>
              <a:avLst/>
              <a:gdLst/>
              <a:ahLst/>
              <a:cxnLst/>
              <a:rect r="r" b="b" t="t" l="l"/>
              <a:pathLst>
                <a:path h="670560" w="2987040">
                  <a:moveTo>
                    <a:pt x="0" y="0"/>
                  </a:moveTo>
                  <a:lnTo>
                    <a:pt x="2987040" y="0"/>
                  </a:lnTo>
                  <a:lnTo>
                    <a:pt x="298704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96" r="0" b="-36796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2987040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CULPADA</a:t>
              </a:r>
            </a:p>
          </p:txBody>
        </p:sp>
      </p:grpSp>
      <p:sp>
        <p:nvSpPr>
          <p:cNvPr name="TextBox 96" id="96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Ygor Rosa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63872" y="9848469"/>
            <a:ext cx="102412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29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Análise e Interpretação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 culpada: a BatchNorm tem dois modos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4128" y="2103120"/>
            <a:ext cx="7982712" cy="3566160"/>
            <a:chOff x="0" y="0"/>
            <a:chExt cx="10643616" cy="4754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43616" cy="4754880"/>
            </a:xfrm>
            <a:custGeom>
              <a:avLst/>
              <a:gdLst/>
              <a:ahLst/>
              <a:cxnLst/>
              <a:rect r="r" b="b" t="t" l="l"/>
              <a:pathLst>
                <a:path h="4754880" w="10643616">
                  <a:moveTo>
                    <a:pt x="0" y="570611"/>
                  </a:moveTo>
                  <a:cubicBezTo>
                    <a:pt x="0" y="255397"/>
                    <a:pt x="255397" y="0"/>
                    <a:pt x="570611" y="0"/>
                  </a:cubicBezTo>
                  <a:lnTo>
                    <a:pt x="10073005" y="0"/>
                  </a:lnTo>
                  <a:cubicBezTo>
                    <a:pt x="10388092" y="0"/>
                    <a:pt x="10643616" y="255397"/>
                    <a:pt x="10643616" y="570611"/>
                  </a:cubicBezTo>
                  <a:lnTo>
                    <a:pt x="10643616" y="4184269"/>
                  </a:lnTo>
                  <a:cubicBezTo>
                    <a:pt x="10643616" y="4499356"/>
                    <a:pt x="10388219" y="4754880"/>
                    <a:pt x="10073005" y="4754880"/>
                  </a:cubicBezTo>
                  <a:lnTo>
                    <a:pt x="570611" y="4754880"/>
                  </a:lnTo>
                  <a:cubicBezTo>
                    <a:pt x="255397" y="4754880"/>
                    <a:pt x="0" y="4499483"/>
                    <a:pt x="0" y="4184269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81328" y="2331720"/>
            <a:ext cx="713232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Modo de treino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1328" y="3027045"/>
            <a:ext cx="4572000" cy="127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normaliza com a média e a variância do próprio lote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é o modo em que a rede aprende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61888" y="3017520"/>
            <a:ext cx="2743200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0,97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1328" y="4617720"/>
            <a:ext cx="713232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acurácia de treino (época 100)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281160" y="2103120"/>
            <a:ext cx="7982712" cy="3566160"/>
            <a:chOff x="0" y="0"/>
            <a:chExt cx="10643616" cy="4754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43616" cy="4754880"/>
            </a:xfrm>
            <a:custGeom>
              <a:avLst/>
              <a:gdLst/>
              <a:ahLst/>
              <a:cxnLst/>
              <a:rect r="r" b="b" t="t" l="l"/>
              <a:pathLst>
                <a:path h="4754880" w="10643616">
                  <a:moveTo>
                    <a:pt x="0" y="570611"/>
                  </a:moveTo>
                  <a:cubicBezTo>
                    <a:pt x="0" y="255397"/>
                    <a:pt x="255397" y="0"/>
                    <a:pt x="570611" y="0"/>
                  </a:cubicBezTo>
                  <a:lnTo>
                    <a:pt x="10073005" y="0"/>
                  </a:lnTo>
                  <a:cubicBezTo>
                    <a:pt x="10388092" y="0"/>
                    <a:pt x="10643616" y="255397"/>
                    <a:pt x="10643616" y="570611"/>
                  </a:cubicBezTo>
                  <a:lnTo>
                    <a:pt x="10643616" y="4184269"/>
                  </a:lnTo>
                  <a:cubicBezTo>
                    <a:pt x="10643616" y="4499356"/>
                    <a:pt x="10388219" y="4754880"/>
                    <a:pt x="10073005" y="4754880"/>
                  </a:cubicBezTo>
                  <a:lnTo>
                    <a:pt x="570611" y="4754880"/>
                  </a:lnTo>
                  <a:cubicBezTo>
                    <a:pt x="255397" y="4754880"/>
                    <a:pt x="0" y="4499483"/>
                    <a:pt x="0" y="4184269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738360" y="2331720"/>
            <a:ext cx="713232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Modo de avaliação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38360" y="3027045"/>
            <a:ext cx="4572000" cy="127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normaliza com médias móveis (momentum 0,999)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é o modo usado na validação e no teste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18920" y="3017520"/>
            <a:ext cx="2743200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200"/>
              </a:lnSpc>
            </a:pPr>
            <a:r>
              <a:rPr lang="en-US" sz="6000" b="true">
                <a:solidFill>
                  <a:srgbClr val="8C8C8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0,34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38360" y="4617720"/>
            <a:ext cx="713232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acurácia de validação (máxima)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4128" y="5998845"/>
            <a:ext cx="1623974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Quanto da média de avaliação ainda é o valor de fábrica (0,999 elevado a 33 × épocas)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24128" y="6537960"/>
            <a:ext cx="1920240" cy="438912"/>
            <a:chOff x="0" y="0"/>
            <a:chExt cx="2560320" cy="585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0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5603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>
                  <a:solidFill>
                    <a:srgbClr val="6B6B6B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época 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127248" y="6592824"/>
            <a:ext cx="11887200" cy="329184"/>
            <a:chOff x="0" y="0"/>
            <a:chExt cx="15849600" cy="4389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849600" cy="438912"/>
            </a:xfrm>
            <a:custGeom>
              <a:avLst/>
              <a:gdLst/>
              <a:ahLst/>
              <a:cxnLst/>
              <a:rect r="r" b="b" t="t" l="l"/>
              <a:pathLst>
                <a:path h="438912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127248" y="6592824"/>
            <a:ext cx="11506810" cy="329184"/>
            <a:chOff x="0" y="0"/>
            <a:chExt cx="15342413" cy="43891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342363" cy="438912"/>
            </a:xfrm>
            <a:custGeom>
              <a:avLst/>
              <a:gdLst/>
              <a:ahLst/>
              <a:cxnLst/>
              <a:rect r="r" b="b" t="t" l="l"/>
              <a:pathLst>
                <a:path h="438912" w="15342363">
                  <a:moveTo>
                    <a:pt x="0" y="0"/>
                  </a:moveTo>
                  <a:lnTo>
                    <a:pt x="15342363" y="0"/>
                  </a:lnTo>
                  <a:lnTo>
                    <a:pt x="15342363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197328" y="6537960"/>
            <a:ext cx="1828800" cy="438912"/>
            <a:chOff x="0" y="0"/>
            <a:chExt cx="2438400" cy="5852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4384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96,8%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24128" y="7086600"/>
            <a:ext cx="1920240" cy="438912"/>
            <a:chOff x="0" y="0"/>
            <a:chExt cx="2560320" cy="5852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60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5603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>
                  <a:solidFill>
                    <a:srgbClr val="6B6B6B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época 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127248" y="7141464"/>
            <a:ext cx="11887200" cy="329184"/>
            <a:chOff x="0" y="0"/>
            <a:chExt cx="15849600" cy="43891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849600" cy="438912"/>
            </a:xfrm>
            <a:custGeom>
              <a:avLst/>
              <a:gdLst/>
              <a:ahLst/>
              <a:cxnLst/>
              <a:rect r="r" b="b" t="t" l="l"/>
              <a:pathLst>
                <a:path h="438912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127248" y="7141464"/>
            <a:ext cx="11126419" cy="329184"/>
            <a:chOff x="0" y="0"/>
            <a:chExt cx="14835226" cy="43891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835251" cy="438912"/>
            </a:xfrm>
            <a:custGeom>
              <a:avLst/>
              <a:gdLst/>
              <a:ahLst/>
              <a:cxnLst/>
              <a:rect r="r" b="b" t="t" l="l"/>
              <a:pathLst>
                <a:path h="438912" w="14835251">
                  <a:moveTo>
                    <a:pt x="0" y="0"/>
                  </a:moveTo>
                  <a:lnTo>
                    <a:pt x="14835251" y="0"/>
                  </a:lnTo>
                  <a:lnTo>
                    <a:pt x="14835251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5197328" y="7086600"/>
            <a:ext cx="1828800" cy="438912"/>
            <a:chOff x="0" y="0"/>
            <a:chExt cx="2438400" cy="5852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24384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93,6%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24128" y="7635240"/>
            <a:ext cx="1920240" cy="438912"/>
            <a:chOff x="0" y="0"/>
            <a:chExt cx="2560320" cy="5852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60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25603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>
                  <a:solidFill>
                    <a:srgbClr val="6B6B6B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época 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127248" y="7690104"/>
            <a:ext cx="11887200" cy="329184"/>
            <a:chOff x="0" y="0"/>
            <a:chExt cx="15849600" cy="43891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849600" cy="438912"/>
            </a:xfrm>
            <a:custGeom>
              <a:avLst/>
              <a:gdLst/>
              <a:ahLst/>
              <a:cxnLst/>
              <a:rect r="r" b="b" t="t" l="l"/>
              <a:pathLst>
                <a:path h="438912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3127248" y="7690104"/>
            <a:ext cx="10413187" cy="329184"/>
            <a:chOff x="0" y="0"/>
            <a:chExt cx="13884250" cy="43891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884275" cy="438912"/>
            </a:xfrm>
            <a:custGeom>
              <a:avLst/>
              <a:gdLst/>
              <a:ahLst/>
              <a:cxnLst/>
              <a:rect r="r" b="b" t="t" l="l"/>
              <a:pathLst>
                <a:path h="438912" w="13884275">
                  <a:moveTo>
                    <a:pt x="0" y="0"/>
                  </a:moveTo>
                  <a:lnTo>
                    <a:pt x="13884275" y="0"/>
                  </a:lnTo>
                  <a:lnTo>
                    <a:pt x="13884275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5197328" y="7635240"/>
            <a:ext cx="1828800" cy="438912"/>
            <a:chOff x="0" y="0"/>
            <a:chExt cx="2438400" cy="5852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24384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87,6%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24128" y="8183880"/>
            <a:ext cx="1920240" cy="438912"/>
            <a:chOff x="0" y="0"/>
            <a:chExt cx="2560320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560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25603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>
                  <a:solidFill>
                    <a:srgbClr val="6B6B6B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época 15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3127248" y="8238744"/>
            <a:ext cx="11887200" cy="329184"/>
            <a:chOff x="0" y="0"/>
            <a:chExt cx="15849600" cy="43891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5849600" cy="438912"/>
            </a:xfrm>
            <a:custGeom>
              <a:avLst/>
              <a:gdLst/>
              <a:ahLst/>
              <a:cxnLst/>
              <a:rect r="r" b="b" t="t" l="l"/>
              <a:pathLst>
                <a:path h="438912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3127248" y="8238744"/>
            <a:ext cx="7239305" cy="329184"/>
            <a:chOff x="0" y="0"/>
            <a:chExt cx="9652406" cy="43891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652381" cy="438912"/>
            </a:xfrm>
            <a:custGeom>
              <a:avLst/>
              <a:gdLst/>
              <a:ahLst/>
              <a:cxnLst/>
              <a:rect r="r" b="b" t="t" l="l"/>
              <a:pathLst>
                <a:path h="438912" w="9652381">
                  <a:moveTo>
                    <a:pt x="0" y="0"/>
                  </a:moveTo>
                  <a:lnTo>
                    <a:pt x="9652381" y="0"/>
                  </a:lnTo>
                  <a:lnTo>
                    <a:pt x="9652381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8C8C8C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5197328" y="8183880"/>
            <a:ext cx="1828800" cy="438912"/>
            <a:chOff x="0" y="0"/>
            <a:chExt cx="2438400" cy="5852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24384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60,9%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24128" y="8732520"/>
            <a:ext cx="1920240" cy="438912"/>
            <a:chOff x="0" y="0"/>
            <a:chExt cx="2560320" cy="58521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560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25603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>
                  <a:solidFill>
                    <a:srgbClr val="6B6B6B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época 100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3127248" y="8787384"/>
            <a:ext cx="11887200" cy="329184"/>
            <a:chOff x="0" y="0"/>
            <a:chExt cx="15849600" cy="43891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5849600" cy="438912"/>
            </a:xfrm>
            <a:custGeom>
              <a:avLst/>
              <a:gdLst/>
              <a:ahLst/>
              <a:cxnLst/>
              <a:rect r="r" b="b" t="t" l="l"/>
              <a:pathLst>
                <a:path h="438912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3127248" y="8787384"/>
            <a:ext cx="439826" cy="329184"/>
            <a:chOff x="0" y="0"/>
            <a:chExt cx="586435" cy="43891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86486" cy="438912"/>
            </a:xfrm>
            <a:custGeom>
              <a:avLst/>
              <a:gdLst/>
              <a:ahLst/>
              <a:cxnLst/>
              <a:rect r="r" b="b" t="t" l="l"/>
              <a:pathLst>
                <a:path h="438912" w="586486">
                  <a:moveTo>
                    <a:pt x="0" y="0"/>
                  </a:moveTo>
                  <a:lnTo>
                    <a:pt x="586486" y="0"/>
                  </a:lnTo>
                  <a:lnTo>
                    <a:pt x="586486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8C8C8C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5197328" y="8732520"/>
            <a:ext cx="1828800" cy="438912"/>
            <a:chOff x="0" y="0"/>
            <a:chExt cx="2438400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24384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3,7%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024128" y="9326880"/>
            <a:ext cx="1623974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i="true">
                <a:solidFill>
                  <a:srgbClr val="6B6B6B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Em preto, as épocas escolhidas pela seleção (1 a 4) em 29 das 30 seeds.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Ygor Rosa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63872" y="9848469"/>
            <a:ext cx="102412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30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Análise e Interpretação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Os cúmplices: inicialização Glorot e a regra de seleção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4128" y="2103120"/>
            <a:ext cx="7982712" cy="7178040"/>
            <a:chOff x="0" y="0"/>
            <a:chExt cx="10643616" cy="957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43616" cy="9570720"/>
            </a:xfrm>
            <a:custGeom>
              <a:avLst/>
              <a:gdLst/>
              <a:ahLst/>
              <a:cxnLst/>
              <a:rect r="r" b="b" t="t" l="l"/>
              <a:pathLst>
                <a:path h="9570720" w="10643616">
                  <a:moveTo>
                    <a:pt x="0" y="1148461"/>
                  </a:moveTo>
                  <a:cubicBezTo>
                    <a:pt x="0" y="514223"/>
                    <a:pt x="514223" y="0"/>
                    <a:pt x="1148461" y="0"/>
                  </a:cubicBezTo>
                  <a:lnTo>
                    <a:pt x="9495155" y="0"/>
                  </a:lnTo>
                  <a:cubicBezTo>
                    <a:pt x="10129393" y="0"/>
                    <a:pt x="10643616" y="514223"/>
                    <a:pt x="10643616" y="1148461"/>
                  </a:cubicBezTo>
                  <a:lnTo>
                    <a:pt x="10643616" y="8422259"/>
                  </a:lnTo>
                  <a:cubicBezTo>
                    <a:pt x="10643616" y="9056497"/>
                    <a:pt x="10129393" y="9570720"/>
                    <a:pt x="9495155" y="9570720"/>
                  </a:cubicBezTo>
                  <a:lnTo>
                    <a:pt x="1148461" y="9570720"/>
                  </a:lnTo>
                  <a:cubicBezTo>
                    <a:pt x="514223" y="9570720"/>
                    <a:pt x="0" y="9056497"/>
                    <a:pt x="0" y="8422259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81328" y="2367915"/>
            <a:ext cx="71323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Glorot uniforme na base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27048" y="3291840"/>
            <a:ext cx="146304" cy="146304"/>
            <a:chOff x="0" y="0"/>
            <a:chExt cx="195072" cy="1950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892808" y="3164205"/>
            <a:ext cx="676656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padrão do Keras em 35 convoluções e 17 depthwise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27048" y="3858768"/>
            <a:ext cx="146304" cy="146304"/>
            <a:chOff x="0" y="0"/>
            <a:chExt cx="195072" cy="195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892808" y="3731133"/>
            <a:ext cx="676656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pensado para ativações simétricas; aqui é ReLU6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527048" y="4425696"/>
            <a:ext cx="146304" cy="146304"/>
            <a:chOff x="0" y="0"/>
            <a:chExt cx="195072" cy="195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892808" y="4298061"/>
            <a:ext cx="676656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na avaliação, sem BN calibrada, o sinal some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1328" y="5074920"/>
            <a:ext cx="713232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10⁻¹²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1328" y="6446520"/>
            <a:ext cx="713232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tamanho das features na avaliação (teste com rede aleatória)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81328" y="7635240"/>
            <a:ext cx="7068312" cy="1188720"/>
            <a:chOff x="0" y="0"/>
            <a:chExt cx="9424416" cy="1584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24415" cy="1584960"/>
            </a:xfrm>
            <a:custGeom>
              <a:avLst/>
              <a:gdLst/>
              <a:ahLst/>
              <a:cxnLst/>
              <a:rect r="r" b="b" t="t" l="l"/>
              <a:pathLst>
                <a:path h="1584960" w="9424415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lnTo>
                    <a:pt x="9186672" y="0"/>
                  </a:lnTo>
                  <a:cubicBezTo>
                    <a:pt x="9317990" y="0"/>
                    <a:pt x="9424415" y="106426"/>
                    <a:pt x="9424415" y="237744"/>
                  </a:cubicBezTo>
                  <a:lnTo>
                    <a:pt x="9424415" y="1347216"/>
                  </a:lnTo>
                  <a:cubicBezTo>
                    <a:pt x="9424415" y="1478534"/>
                    <a:pt x="9317990" y="1584960"/>
                    <a:pt x="9186672" y="1584960"/>
                  </a:cubicBezTo>
                  <a:lnTo>
                    <a:pt x="237744" y="1584960"/>
                  </a:lnTo>
                  <a:cubicBezTo>
                    <a:pt x="106426" y="1584960"/>
                    <a:pt x="0" y="1478534"/>
                    <a:pt x="0" y="134721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755648" y="7635240"/>
            <a:ext cx="6583680" cy="1188720"/>
            <a:chOff x="0" y="0"/>
            <a:chExt cx="8778240" cy="15849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7782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917" r="0" b="-5791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877824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saída = só o viés → p = 1/3 para qualquer imagem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81160" y="2103120"/>
            <a:ext cx="7982712" cy="7178040"/>
            <a:chOff x="0" y="0"/>
            <a:chExt cx="10643616" cy="9570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43616" cy="9570720"/>
            </a:xfrm>
            <a:custGeom>
              <a:avLst/>
              <a:gdLst/>
              <a:ahLst/>
              <a:cxnLst/>
              <a:rect r="r" b="b" t="t" l="l"/>
              <a:pathLst>
                <a:path h="9570720" w="10643616">
                  <a:moveTo>
                    <a:pt x="0" y="1148461"/>
                  </a:moveTo>
                  <a:cubicBezTo>
                    <a:pt x="0" y="514223"/>
                    <a:pt x="514223" y="0"/>
                    <a:pt x="1148461" y="0"/>
                  </a:cubicBezTo>
                  <a:lnTo>
                    <a:pt x="9495155" y="0"/>
                  </a:lnTo>
                  <a:cubicBezTo>
                    <a:pt x="10129393" y="0"/>
                    <a:pt x="10643616" y="514223"/>
                    <a:pt x="10643616" y="1148461"/>
                  </a:cubicBezTo>
                  <a:lnTo>
                    <a:pt x="10643616" y="8422259"/>
                  </a:lnTo>
                  <a:cubicBezTo>
                    <a:pt x="10643616" y="9056497"/>
                    <a:pt x="10129393" y="9570720"/>
                    <a:pt x="9495155" y="9570720"/>
                  </a:cubicBezTo>
                  <a:lnTo>
                    <a:pt x="1148461" y="9570720"/>
                  </a:lnTo>
                  <a:cubicBezTo>
                    <a:pt x="514223" y="9570720"/>
                    <a:pt x="0" y="9056497"/>
                    <a:pt x="0" y="8422259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738360" y="2367915"/>
            <a:ext cx="71323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Seleção pela menor perda de validação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784080" y="3291840"/>
            <a:ext cx="146304" cy="146304"/>
            <a:chOff x="0" y="0"/>
            <a:chExt cx="195072" cy="1950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149840" y="3164205"/>
            <a:ext cx="676656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responder 1/3 para tudo dá perda ln 3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784080" y="3858768"/>
            <a:ext cx="146304" cy="146304"/>
            <a:chOff x="0" y="0"/>
            <a:chExt cx="195072" cy="1950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149840" y="3731133"/>
            <a:ext cx="676656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todas as épocas seguintes foram piores (até 3,06)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784080" y="4425696"/>
            <a:ext cx="146304" cy="146304"/>
            <a:chOff x="0" y="0"/>
            <a:chExt cx="195072" cy="19507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149840" y="4298061"/>
            <a:ext cx="676656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a regra guardou o modelo do início do treino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38360" y="5074920"/>
            <a:ext cx="713232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ln 3 ≈ 1,099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38360" y="6446520"/>
            <a:ext cx="713232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perda de quem responde 1/3 para todas as classes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738360" y="7635240"/>
            <a:ext cx="7068312" cy="1188720"/>
            <a:chOff x="0" y="0"/>
            <a:chExt cx="9424416" cy="1584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424415" cy="1584960"/>
            </a:xfrm>
            <a:custGeom>
              <a:avLst/>
              <a:gdLst/>
              <a:ahLst/>
              <a:cxnLst/>
              <a:rect r="r" b="b" t="t" l="l"/>
              <a:pathLst>
                <a:path h="1584960" w="9424415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lnTo>
                    <a:pt x="9186672" y="0"/>
                  </a:lnTo>
                  <a:cubicBezTo>
                    <a:pt x="9317990" y="0"/>
                    <a:pt x="9424415" y="106426"/>
                    <a:pt x="9424415" y="237744"/>
                  </a:cubicBezTo>
                  <a:lnTo>
                    <a:pt x="9424415" y="1347216"/>
                  </a:lnTo>
                  <a:cubicBezTo>
                    <a:pt x="9424415" y="1478534"/>
                    <a:pt x="9317990" y="1584960"/>
                    <a:pt x="9186672" y="1584960"/>
                  </a:cubicBezTo>
                  <a:lnTo>
                    <a:pt x="237744" y="1584960"/>
                  </a:lnTo>
                  <a:cubicBezTo>
                    <a:pt x="106426" y="1584960"/>
                    <a:pt x="0" y="1478534"/>
                    <a:pt x="0" y="134721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012680" y="7635240"/>
            <a:ext cx="6583680" cy="1188720"/>
            <a:chOff x="0" y="0"/>
            <a:chExt cx="8778240" cy="15849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7782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917" r="0" b="-5791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877824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épocas escolhidas: 1 (22 seeds), 2 (6), 4 (1), 90 (1)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Ygor Rosa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Análise e Interpretação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Reconstituição do crime e veredito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4128" y="2148840"/>
            <a:ext cx="2880360" cy="2057400"/>
            <a:chOff x="0" y="0"/>
            <a:chExt cx="3840480" cy="274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404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38404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511296" y="0"/>
                  </a:lnTo>
                  <a:cubicBezTo>
                    <a:pt x="3693160" y="0"/>
                    <a:pt x="3840480" y="147320"/>
                    <a:pt x="3840480" y="329184"/>
                  </a:cubicBezTo>
                  <a:lnTo>
                    <a:pt x="3840480" y="2414016"/>
                  </a:lnTo>
                  <a:cubicBezTo>
                    <a:pt x="3840480" y="2595880"/>
                    <a:pt x="3693160" y="2743200"/>
                    <a:pt x="3511296" y="2743200"/>
                  </a:cubicBezTo>
                  <a:lnTo>
                    <a:pt x="329184" y="2743200"/>
                  </a:lnTo>
                  <a:cubicBezTo>
                    <a:pt x="147320" y="2743200"/>
                    <a:pt x="0" y="2595880"/>
                    <a:pt x="0" y="241401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2728" y="2331720"/>
            <a:ext cx="594360" cy="594360"/>
            <a:chOff x="0" y="0"/>
            <a:chExt cx="792480" cy="7924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396240"/>
                  </a:moveTo>
                  <a:cubicBezTo>
                    <a:pt x="0" y="177419"/>
                    <a:pt x="177419" y="0"/>
                    <a:pt x="396240" y="0"/>
                  </a:cubicBezTo>
                  <a:cubicBezTo>
                    <a:pt x="615061" y="0"/>
                    <a:pt x="792480" y="177419"/>
                    <a:pt x="792480" y="396240"/>
                  </a:cubicBezTo>
                  <a:cubicBezTo>
                    <a:pt x="792480" y="615061"/>
                    <a:pt x="615061" y="792480"/>
                    <a:pt x="396240" y="792480"/>
                  </a:cubicBezTo>
                  <a:cubicBezTo>
                    <a:pt x="177419" y="792480"/>
                    <a:pt x="0" y="615061"/>
                    <a:pt x="0" y="396240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52728" y="2331720"/>
            <a:ext cx="594360" cy="594360"/>
            <a:chOff x="0" y="0"/>
            <a:chExt cx="792480" cy="792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792480" cy="802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52728" y="3063240"/>
            <a:ext cx="246888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Base aleatória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2728" y="3611880"/>
            <a:ext cx="24688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Glorot · ReLU6</a:t>
            </a:r>
          </a:p>
        </p:txBody>
      </p:sp>
      <p:sp>
        <p:nvSpPr>
          <p:cNvPr name="AutoShape 13" id="13"/>
          <p:cNvSpPr/>
          <p:nvPr/>
        </p:nvSpPr>
        <p:spPr>
          <a:xfrm rot="274020">
            <a:off x="3933701" y="3158680"/>
            <a:ext cx="398774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4361688" y="2148840"/>
            <a:ext cx="2880360" cy="2057400"/>
            <a:chOff x="0" y="0"/>
            <a:chExt cx="3840480" cy="2743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404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38404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511296" y="0"/>
                  </a:lnTo>
                  <a:cubicBezTo>
                    <a:pt x="3693160" y="0"/>
                    <a:pt x="3840480" y="147320"/>
                    <a:pt x="3840480" y="329184"/>
                  </a:cubicBezTo>
                  <a:lnTo>
                    <a:pt x="3840480" y="2414016"/>
                  </a:lnTo>
                  <a:cubicBezTo>
                    <a:pt x="3840480" y="2595880"/>
                    <a:pt x="3693160" y="2743200"/>
                    <a:pt x="3511296" y="2743200"/>
                  </a:cubicBezTo>
                  <a:lnTo>
                    <a:pt x="329184" y="2743200"/>
                  </a:lnTo>
                  <a:cubicBezTo>
                    <a:pt x="147320" y="2743200"/>
                    <a:pt x="0" y="2595880"/>
                    <a:pt x="0" y="241401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590288" y="2331720"/>
            <a:ext cx="594360" cy="594360"/>
            <a:chOff x="0" y="0"/>
            <a:chExt cx="792480" cy="7924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396240"/>
                  </a:moveTo>
                  <a:cubicBezTo>
                    <a:pt x="0" y="177419"/>
                    <a:pt x="177419" y="0"/>
                    <a:pt x="396240" y="0"/>
                  </a:cubicBezTo>
                  <a:cubicBezTo>
                    <a:pt x="615061" y="0"/>
                    <a:pt x="792480" y="177419"/>
                    <a:pt x="792480" y="396240"/>
                  </a:cubicBezTo>
                  <a:cubicBezTo>
                    <a:pt x="792480" y="615061"/>
                    <a:pt x="615061" y="792480"/>
                    <a:pt x="396240" y="792480"/>
                  </a:cubicBezTo>
                  <a:cubicBezTo>
                    <a:pt x="177419" y="792480"/>
                    <a:pt x="0" y="615061"/>
                    <a:pt x="0" y="396240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590288" y="2331720"/>
            <a:ext cx="594360" cy="594360"/>
            <a:chOff x="0" y="0"/>
            <a:chExt cx="792480" cy="792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792480" cy="802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2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590288" y="3063240"/>
            <a:ext cx="246888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Aprende no treino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590288" y="3611880"/>
            <a:ext cx="24688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BN do lote · 0,97</a:t>
            </a:r>
          </a:p>
        </p:txBody>
      </p:sp>
      <p:sp>
        <p:nvSpPr>
          <p:cNvPr name="AutoShape 23" id="23"/>
          <p:cNvSpPr/>
          <p:nvPr/>
        </p:nvSpPr>
        <p:spPr>
          <a:xfrm rot="274020">
            <a:off x="7271261" y="3158680"/>
            <a:ext cx="398774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4" id="24"/>
          <p:cNvGrpSpPr/>
          <p:nvPr/>
        </p:nvGrpSpPr>
        <p:grpSpPr>
          <a:xfrm rot="0">
            <a:off x="7699248" y="2148840"/>
            <a:ext cx="2880360" cy="2057400"/>
            <a:chOff x="0" y="0"/>
            <a:chExt cx="3840480" cy="2743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404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38404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511296" y="0"/>
                  </a:lnTo>
                  <a:cubicBezTo>
                    <a:pt x="3693160" y="0"/>
                    <a:pt x="3840480" y="147320"/>
                    <a:pt x="3840480" y="329184"/>
                  </a:cubicBezTo>
                  <a:lnTo>
                    <a:pt x="3840480" y="2414016"/>
                  </a:lnTo>
                  <a:cubicBezTo>
                    <a:pt x="3840480" y="2595880"/>
                    <a:pt x="3693160" y="2743200"/>
                    <a:pt x="3511296" y="2743200"/>
                  </a:cubicBezTo>
                  <a:lnTo>
                    <a:pt x="329184" y="2743200"/>
                  </a:lnTo>
                  <a:cubicBezTo>
                    <a:pt x="147320" y="2743200"/>
                    <a:pt x="0" y="2595880"/>
                    <a:pt x="0" y="241401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927848" y="2331720"/>
            <a:ext cx="594360" cy="594360"/>
            <a:chOff x="0" y="0"/>
            <a:chExt cx="792480" cy="792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396240"/>
                  </a:moveTo>
                  <a:cubicBezTo>
                    <a:pt x="0" y="177419"/>
                    <a:pt x="177419" y="0"/>
                    <a:pt x="396240" y="0"/>
                  </a:cubicBezTo>
                  <a:cubicBezTo>
                    <a:pt x="615061" y="0"/>
                    <a:pt x="792480" y="177419"/>
                    <a:pt x="792480" y="396240"/>
                  </a:cubicBezTo>
                  <a:cubicBezTo>
                    <a:pt x="792480" y="615061"/>
                    <a:pt x="615061" y="792480"/>
                    <a:pt x="396240" y="792480"/>
                  </a:cubicBezTo>
                  <a:cubicBezTo>
                    <a:pt x="177419" y="792480"/>
                    <a:pt x="0" y="615061"/>
                    <a:pt x="0" y="396240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927848" y="2331720"/>
            <a:ext cx="594360" cy="594360"/>
            <a:chOff x="0" y="0"/>
            <a:chExt cx="792480" cy="792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792480" cy="802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3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7927848" y="3063240"/>
            <a:ext cx="246888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Médias atrasadas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927848" y="3611880"/>
            <a:ext cx="24688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momentum 0,999</a:t>
            </a:r>
          </a:p>
        </p:txBody>
      </p:sp>
      <p:sp>
        <p:nvSpPr>
          <p:cNvPr name="AutoShape 33" id="33"/>
          <p:cNvSpPr/>
          <p:nvPr/>
        </p:nvSpPr>
        <p:spPr>
          <a:xfrm rot="274020">
            <a:off x="10608821" y="3158680"/>
            <a:ext cx="398774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4" id="34"/>
          <p:cNvGrpSpPr/>
          <p:nvPr/>
        </p:nvGrpSpPr>
        <p:grpSpPr>
          <a:xfrm rot="0">
            <a:off x="11036808" y="2148840"/>
            <a:ext cx="2880360" cy="2057400"/>
            <a:chOff x="0" y="0"/>
            <a:chExt cx="3840480" cy="2743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8404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38404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511296" y="0"/>
                  </a:lnTo>
                  <a:cubicBezTo>
                    <a:pt x="3693160" y="0"/>
                    <a:pt x="3840480" y="147320"/>
                    <a:pt x="3840480" y="329184"/>
                  </a:cubicBezTo>
                  <a:lnTo>
                    <a:pt x="3840480" y="2414016"/>
                  </a:lnTo>
                  <a:cubicBezTo>
                    <a:pt x="3840480" y="2595880"/>
                    <a:pt x="3693160" y="2743200"/>
                    <a:pt x="3511296" y="2743200"/>
                  </a:cubicBezTo>
                  <a:lnTo>
                    <a:pt x="329184" y="2743200"/>
                  </a:lnTo>
                  <a:cubicBezTo>
                    <a:pt x="147320" y="2743200"/>
                    <a:pt x="0" y="2595880"/>
                    <a:pt x="0" y="241401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265408" y="2331720"/>
            <a:ext cx="594360" cy="594360"/>
            <a:chOff x="0" y="0"/>
            <a:chExt cx="792480" cy="7924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396240"/>
                  </a:moveTo>
                  <a:cubicBezTo>
                    <a:pt x="0" y="177419"/>
                    <a:pt x="177419" y="0"/>
                    <a:pt x="396240" y="0"/>
                  </a:cubicBezTo>
                  <a:cubicBezTo>
                    <a:pt x="615061" y="0"/>
                    <a:pt x="792480" y="177419"/>
                    <a:pt x="792480" y="396240"/>
                  </a:cubicBezTo>
                  <a:cubicBezTo>
                    <a:pt x="792480" y="615061"/>
                    <a:pt x="615061" y="792480"/>
                    <a:pt x="396240" y="792480"/>
                  </a:cubicBezTo>
                  <a:cubicBezTo>
                    <a:pt x="177419" y="792480"/>
                    <a:pt x="0" y="615061"/>
                    <a:pt x="0" y="396240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265408" y="2331720"/>
            <a:ext cx="594360" cy="594360"/>
            <a:chOff x="0" y="0"/>
            <a:chExt cx="792480" cy="7924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792480" cy="802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4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1265408" y="3063240"/>
            <a:ext cx="246888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Sinal some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265408" y="3611880"/>
            <a:ext cx="24688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na avaliação · 10⁻¹²</a:t>
            </a:r>
          </a:p>
        </p:txBody>
      </p:sp>
      <p:sp>
        <p:nvSpPr>
          <p:cNvPr name="AutoShape 43" id="43"/>
          <p:cNvSpPr/>
          <p:nvPr/>
        </p:nvSpPr>
        <p:spPr>
          <a:xfrm rot="274020">
            <a:off x="13946381" y="3158680"/>
            <a:ext cx="398774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4" id="44"/>
          <p:cNvGrpSpPr/>
          <p:nvPr/>
        </p:nvGrpSpPr>
        <p:grpSpPr>
          <a:xfrm rot="0">
            <a:off x="14374368" y="2148840"/>
            <a:ext cx="2880360" cy="2057400"/>
            <a:chOff x="0" y="0"/>
            <a:chExt cx="3840480" cy="2743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8404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38404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511296" y="0"/>
                  </a:lnTo>
                  <a:cubicBezTo>
                    <a:pt x="3693160" y="0"/>
                    <a:pt x="3840480" y="147320"/>
                    <a:pt x="3840480" y="329184"/>
                  </a:cubicBezTo>
                  <a:lnTo>
                    <a:pt x="3840480" y="2414016"/>
                  </a:lnTo>
                  <a:cubicBezTo>
                    <a:pt x="3840480" y="2595880"/>
                    <a:pt x="3693160" y="2743200"/>
                    <a:pt x="3511296" y="2743200"/>
                  </a:cubicBezTo>
                  <a:lnTo>
                    <a:pt x="329184" y="2743200"/>
                  </a:lnTo>
                  <a:cubicBezTo>
                    <a:pt x="147320" y="2743200"/>
                    <a:pt x="0" y="2595880"/>
                    <a:pt x="0" y="241401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602968" y="2331720"/>
            <a:ext cx="594360" cy="594360"/>
            <a:chOff x="0" y="0"/>
            <a:chExt cx="792480" cy="7924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396240"/>
                  </a:moveTo>
                  <a:cubicBezTo>
                    <a:pt x="0" y="177419"/>
                    <a:pt x="177419" y="0"/>
                    <a:pt x="396240" y="0"/>
                  </a:cubicBezTo>
                  <a:cubicBezTo>
                    <a:pt x="615061" y="0"/>
                    <a:pt x="792480" y="177419"/>
                    <a:pt x="792480" y="396240"/>
                  </a:cubicBezTo>
                  <a:cubicBezTo>
                    <a:pt x="792480" y="615061"/>
                    <a:pt x="615061" y="792480"/>
                    <a:pt x="396240" y="792480"/>
                  </a:cubicBezTo>
                  <a:cubicBezTo>
                    <a:pt x="177419" y="792480"/>
                    <a:pt x="0" y="615061"/>
                    <a:pt x="0" y="3962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602968" y="2331720"/>
            <a:ext cx="594360" cy="594360"/>
            <a:chOff x="0" y="0"/>
            <a:chExt cx="792480" cy="7924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792480" cy="802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5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4602968" y="3063240"/>
            <a:ext cx="246888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Seleção: época 1–4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602968" y="3611880"/>
            <a:ext cx="24688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B4B4B4"/>
                </a:solidFill>
                <a:latin typeface="Open Sans 2"/>
                <a:ea typeface="Open Sans 2"/>
                <a:cs typeface="Open Sans 2"/>
                <a:sym typeface="Open Sans 2"/>
              </a:rPr>
              <a:t>F1 = 0,168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024128" y="4526280"/>
            <a:ext cx="16239744" cy="2148840"/>
            <a:chOff x="0" y="0"/>
            <a:chExt cx="21652992" cy="28651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652992" cy="2865120"/>
            </a:xfrm>
            <a:custGeom>
              <a:avLst/>
              <a:gdLst/>
              <a:ahLst/>
              <a:cxnLst/>
              <a:rect r="r" b="b" t="t" l="l"/>
              <a:pathLst>
                <a:path h="2865120" w="21652992">
                  <a:moveTo>
                    <a:pt x="0" y="343789"/>
                  </a:moveTo>
                  <a:cubicBezTo>
                    <a:pt x="0" y="153924"/>
                    <a:pt x="153924" y="0"/>
                    <a:pt x="343789" y="0"/>
                  </a:cubicBezTo>
                  <a:lnTo>
                    <a:pt x="21309203" y="0"/>
                  </a:lnTo>
                  <a:cubicBezTo>
                    <a:pt x="21499068" y="0"/>
                    <a:pt x="21652992" y="153924"/>
                    <a:pt x="21652992" y="343789"/>
                  </a:cubicBezTo>
                  <a:lnTo>
                    <a:pt x="21652992" y="2521331"/>
                  </a:lnTo>
                  <a:cubicBezTo>
                    <a:pt x="21652992" y="2711196"/>
                    <a:pt x="21499068" y="2865120"/>
                    <a:pt x="21309203" y="2865120"/>
                  </a:cubicBezTo>
                  <a:lnTo>
                    <a:pt x="343789" y="2865120"/>
                  </a:lnTo>
                  <a:cubicBezTo>
                    <a:pt x="153924" y="2865120"/>
                    <a:pt x="0" y="2711196"/>
                    <a:pt x="0" y="2521331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435608" y="4718685"/>
            <a:ext cx="54864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Prova em laboratório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35608" y="5267325"/>
            <a:ext cx="9326880" cy="127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F1F1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MobileNetV2 aleatória, modo de avaliação: </a:t>
            </a:r>
            <a:r>
              <a:rPr lang="en-US" sz="18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32 imagens bem diferentes → a mesma resposta, 1 classe, p = 0,333.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F1F1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Após recalibrar as médias da BatchNorm: </a:t>
            </a:r>
            <a:r>
              <a:rPr lang="en-US" sz="18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as 3 classes aparecem.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521440" y="4754880"/>
            <a:ext cx="265176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0,333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521440" y="5669280"/>
            <a:ext cx="265176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p máx. no laboratório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356080" y="4754880"/>
            <a:ext cx="265176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0,339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356080" y="5669280"/>
            <a:ext cx="265176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6B6B6B"/>
                </a:solidFill>
                <a:latin typeface="Open Sans 2"/>
                <a:ea typeface="Open Sans 2"/>
                <a:cs typeface="Open Sans 2"/>
                <a:sym typeface="Open Sans 2"/>
              </a:rPr>
              <a:t>p máx. publicada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024128" y="6949440"/>
            <a:ext cx="16239744" cy="1600200"/>
            <a:chOff x="0" y="0"/>
            <a:chExt cx="21652992" cy="21336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652993" cy="2133600"/>
            </a:xfrm>
            <a:custGeom>
              <a:avLst/>
              <a:gdLst/>
              <a:ahLst/>
              <a:cxnLst/>
              <a:rect r="r" b="b" t="t" l="l"/>
              <a:pathLst>
                <a:path h="2133600" w="21652993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21396961" y="0"/>
                  </a:lnTo>
                  <a:cubicBezTo>
                    <a:pt x="21538312" y="0"/>
                    <a:pt x="21652993" y="114681"/>
                    <a:pt x="21652993" y="256032"/>
                  </a:cubicBezTo>
                  <a:lnTo>
                    <a:pt x="21652993" y="1877568"/>
                  </a:lnTo>
                  <a:cubicBezTo>
                    <a:pt x="21652993" y="2018919"/>
                    <a:pt x="21538312" y="2133600"/>
                    <a:pt x="21396961" y="2133600"/>
                  </a:cubicBezTo>
                  <a:lnTo>
                    <a:pt x="256032" y="2133600"/>
                  </a:lnTo>
                  <a:cubicBezTo>
                    <a:pt x="114681" y="2133600"/>
                    <a:pt x="0" y="2018919"/>
                    <a:pt x="0" y="187756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481328" y="6949440"/>
            <a:ext cx="15325344" cy="1600200"/>
            <a:chOff x="0" y="0"/>
            <a:chExt cx="20433792" cy="21336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433792" cy="2133600"/>
            </a:xfrm>
            <a:custGeom>
              <a:avLst/>
              <a:gdLst/>
              <a:ahLst/>
              <a:cxnLst/>
              <a:rect r="r" b="b" t="t" l="l"/>
              <a:pathLst>
                <a:path h="2133600" w="20433792">
                  <a:moveTo>
                    <a:pt x="0" y="0"/>
                  </a:moveTo>
                  <a:lnTo>
                    <a:pt x="20433792" y="0"/>
                  </a:lnTo>
                  <a:lnTo>
                    <a:pt x="20433792" y="2133600"/>
                  </a:lnTo>
                  <a:lnTo>
                    <a:pt x="0" y="2133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610" r="0" b="-13661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20433792" cy="2133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A9CDB9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Veredito: </a:t>
              </a:r>
              <a:r>
                <a:rPr lang="en-US" sz="2199">
                  <a:solidFill>
                    <a:srgbClr val="FFFFF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não foi “treinar do zero é impossível”, nem “a rede não aprendeu”. O protocolo, montado para transfer learning, levou para a prova uma rede com a BatchNorm descalibrada.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024128" y="8778240"/>
            <a:ext cx="1623974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i="true">
                <a:solidFill>
                  <a:srgbClr val="6B6B6B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Ressalva: mecanismo demonstrado em rede aleatória; falta confirmar com os pesos reais (seed 1001). Sozinho, ele não explica a validação parada até a época 100.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Ygor Rosa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Análise e Interpretação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 que podemos (e não podemos) afirmar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4128" y="2103120"/>
            <a:ext cx="7982712" cy="5074920"/>
            <a:chOff x="0" y="0"/>
            <a:chExt cx="10643616" cy="6766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43616" cy="6766560"/>
            </a:xfrm>
            <a:custGeom>
              <a:avLst/>
              <a:gdLst/>
              <a:ahLst/>
              <a:cxnLst/>
              <a:rect r="r" b="b" t="t" l="l"/>
              <a:pathLst>
                <a:path h="6766560" w="10643616">
                  <a:moveTo>
                    <a:pt x="0" y="812038"/>
                  </a:moveTo>
                  <a:cubicBezTo>
                    <a:pt x="0" y="363601"/>
                    <a:pt x="363601" y="0"/>
                    <a:pt x="812038" y="0"/>
                  </a:cubicBezTo>
                  <a:lnTo>
                    <a:pt x="9831578" y="0"/>
                  </a:lnTo>
                  <a:cubicBezTo>
                    <a:pt x="10280015" y="0"/>
                    <a:pt x="10643616" y="363601"/>
                    <a:pt x="10643616" y="812038"/>
                  </a:cubicBezTo>
                  <a:lnTo>
                    <a:pt x="10643616" y="5954522"/>
                  </a:lnTo>
                  <a:cubicBezTo>
                    <a:pt x="10643616" y="6402959"/>
                    <a:pt x="10280015" y="6766560"/>
                    <a:pt x="9831578" y="6766560"/>
                  </a:cubicBezTo>
                  <a:lnTo>
                    <a:pt x="812038" y="6766560"/>
                  </a:lnTo>
                  <a:cubicBezTo>
                    <a:pt x="363601" y="6766560"/>
                    <a:pt x="0" y="6402959"/>
                    <a:pt x="0" y="595452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7048" y="2514600"/>
            <a:ext cx="960120" cy="960120"/>
            <a:chOff x="0" y="0"/>
            <a:chExt cx="1280160" cy="1280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9072" y="2706624"/>
            <a:ext cx="576072" cy="576072"/>
            <a:chOff x="0" y="0"/>
            <a:chExt cx="768096" cy="768096"/>
          </a:xfrm>
        </p:grpSpPr>
        <p:sp>
          <p:nvSpPr>
            <p:cNvPr name="Freeform 9" id="9" descr="ic_check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807208" y="2514600"/>
            <a:ext cx="5943600" cy="960120"/>
            <a:chOff x="0" y="0"/>
            <a:chExt cx="792480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924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79248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2D6A4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Podemos afirmar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18488" y="4041648"/>
            <a:ext cx="182880" cy="182880"/>
            <a:chOff x="0" y="0"/>
            <a:chExt cx="243840" cy="243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075688" y="3886200"/>
            <a:ext cx="65836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ImageNet foi a abordagem mais eficaz neste protocolo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18488" y="5093208"/>
            <a:ext cx="182880" cy="182880"/>
            <a:chOff x="0" y="0"/>
            <a:chExt cx="243840" cy="243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075688" y="4937760"/>
            <a:ext cx="65836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Vantagem em 30 de 30 pares, com H₀ rejeitada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18488" y="6144768"/>
            <a:ext cx="182880" cy="182880"/>
            <a:chOff x="0" y="0"/>
            <a:chExt cx="243840" cy="243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075688" y="5989320"/>
            <a:ext cx="65836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Aleatório: saída constante na inferência, em todas as seeds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81160" y="2103120"/>
            <a:ext cx="7982712" cy="5074920"/>
            <a:chOff x="0" y="0"/>
            <a:chExt cx="10643616" cy="67665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643616" cy="6766560"/>
            </a:xfrm>
            <a:custGeom>
              <a:avLst/>
              <a:gdLst/>
              <a:ahLst/>
              <a:cxnLst/>
              <a:rect r="r" b="b" t="t" l="l"/>
              <a:pathLst>
                <a:path h="6766560" w="10643616">
                  <a:moveTo>
                    <a:pt x="0" y="812038"/>
                  </a:moveTo>
                  <a:cubicBezTo>
                    <a:pt x="0" y="363601"/>
                    <a:pt x="363601" y="0"/>
                    <a:pt x="812038" y="0"/>
                  </a:cubicBezTo>
                  <a:lnTo>
                    <a:pt x="9831578" y="0"/>
                  </a:lnTo>
                  <a:cubicBezTo>
                    <a:pt x="10280015" y="0"/>
                    <a:pt x="10643616" y="363601"/>
                    <a:pt x="10643616" y="812038"/>
                  </a:cubicBezTo>
                  <a:lnTo>
                    <a:pt x="10643616" y="5954522"/>
                  </a:lnTo>
                  <a:cubicBezTo>
                    <a:pt x="10643616" y="6402959"/>
                    <a:pt x="10280015" y="6766560"/>
                    <a:pt x="9831578" y="6766560"/>
                  </a:cubicBezTo>
                  <a:lnTo>
                    <a:pt x="812038" y="6766560"/>
                  </a:lnTo>
                  <a:cubicBezTo>
                    <a:pt x="363601" y="6766560"/>
                    <a:pt x="0" y="6402959"/>
                    <a:pt x="0" y="595452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784080" y="2514600"/>
            <a:ext cx="960120" cy="960120"/>
            <a:chOff x="0" y="0"/>
            <a:chExt cx="1280160" cy="1280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976104" y="2706624"/>
            <a:ext cx="576072" cy="576072"/>
            <a:chOff x="0" y="0"/>
            <a:chExt cx="768096" cy="768096"/>
          </a:xfrm>
        </p:grpSpPr>
        <p:sp>
          <p:nvSpPr>
            <p:cNvPr name="Freeform 27" id="27" descr="ic_cross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064240" y="2514600"/>
            <a:ext cx="5943600" cy="960120"/>
            <a:chOff x="0" y="0"/>
            <a:chExt cx="7924800" cy="12801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924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79248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Não podemos afirmar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875520" y="4041648"/>
            <a:ext cx="182880" cy="182880"/>
            <a:chOff x="0" y="0"/>
            <a:chExt cx="243840" cy="243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332720" y="3886200"/>
            <a:ext cx="65836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O ganho real contra uma rede do zero bem ajustada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875520" y="5093208"/>
            <a:ext cx="182880" cy="182880"/>
            <a:chOff x="0" y="0"/>
            <a:chExt cx="243840" cy="243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332720" y="4937760"/>
            <a:ext cx="65836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Que ImageNet sempre vence, em qualquer configuração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875520" y="6144768"/>
            <a:ext cx="182880" cy="182880"/>
            <a:chOff x="0" y="0"/>
            <a:chExt cx="243840" cy="243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4D4D4D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332720" y="5989320"/>
            <a:ext cx="658368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Que o Grad-CAM explica causalmente as decisões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24128" y="7416165"/>
            <a:ext cx="1623974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B6B6B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Sentido esperado pela literatura (Yosinski et al., 2014; He, Girshick e Dollár, 2019), mas magnitude não comparável.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24128" y="8092440"/>
            <a:ext cx="16239744" cy="1188720"/>
            <a:chOff x="0" y="0"/>
            <a:chExt cx="21652992" cy="1584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652992" cy="1585087"/>
            </a:xfrm>
            <a:custGeom>
              <a:avLst/>
              <a:gdLst/>
              <a:ahLst/>
              <a:cxnLst/>
              <a:rect r="r" b="b" t="t" l="l"/>
              <a:pathLst>
                <a:path h="1585087" w="21652992">
                  <a:moveTo>
                    <a:pt x="0" y="190246"/>
                  </a:moveTo>
                  <a:cubicBezTo>
                    <a:pt x="0" y="85090"/>
                    <a:pt x="85090" y="0"/>
                    <a:pt x="190246" y="0"/>
                  </a:cubicBezTo>
                  <a:lnTo>
                    <a:pt x="21462746" y="0"/>
                  </a:lnTo>
                  <a:cubicBezTo>
                    <a:pt x="21567775" y="0"/>
                    <a:pt x="21652992" y="85090"/>
                    <a:pt x="21652992" y="190246"/>
                  </a:cubicBezTo>
                  <a:lnTo>
                    <a:pt x="21652992" y="1394841"/>
                  </a:lnTo>
                  <a:cubicBezTo>
                    <a:pt x="21652992" y="1499870"/>
                    <a:pt x="21567902" y="1585087"/>
                    <a:pt x="21462746" y="1585087"/>
                  </a:cubicBezTo>
                  <a:lnTo>
                    <a:pt x="190246" y="1585087"/>
                  </a:lnTo>
                  <a:cubicBezTo>
                    <a:pt x="85090" y="1584960"/>
                    <a:pt x="0" y="1499870"/>
                    <a:pt x="0" y="139471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81328" y="8092440"/>
            <a:ext cx="15325344" cy="1188720"/>
            <a:chOff x="0" y="0"/>
            <a:chExt cx="20433792" cy="15849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433792" cy="1584960"/>
            </a:xfrm>
            <a:custGeom>
              <a:avLst/>
              <a:gdLst/>
              <a:ahLst/>
              <a:cxnLst/>
              <a:rect r="r" b="b" t="t" l="l"/>
              <a:pathLst>
                <a:path h="1584960" w="20433792">
                  <a:moveTo>
                    <a:pt x="0" y="0"/>
                  </a:moveTo>
                  <a:lnTo>
                    <a:pt x="20433792" y="0"/>
                  </a:lnTo>
                  <a:lnTo>
                    <a:pt x="20433792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207" r="0" b="-20120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9525"/>
              <a:ext cx="20433792" cy="1575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FFFFFF"/>
                  </a:solidFill>
                  <a:latin typeface="Open Sans 2 Italics"/>
                  <a:ea typeface="Open Sans 2 Italics"/>
                  <a:cs typeface="Open Sans 2 Italics"/>
                  <a:sym typeface="Open Sans 2 Italics"/>
                </a:rPr>
                <a:t>Comparamos ImageNet com uma </a:t>
              </a:r>
              <a:r>
                <a:rPr lang="en-US" b="true" sz="2400" i="true">
                  <a:solidFill>
                    <a:srgbClr val="A9CDB9"/>
                  </a:solidFill>
                  <a:latin typeface="Open Sans 2 Bold Italics"/>
                  <a:ea typeface="Open Sans 2 Bold Italics"/>
                  <a:cs typeface="Open Sans 2 Bold Italics"/>
                  <a:sym typeface="Open Sans 2 Bold Italics"/>
                </a:rPr>
                <a:t>saída constante</a:t>
              </a:r>
              <a:r>
                <a:rPr lang="en-US" sz="2400" i="true">
                  <a:solidFill>
                    <a:srgbClr val="FFFFFF"/>
                  </a:solidFill>
                  <a:latin typeface="Open Sans 2 Italics"/>
                  <a:ea typeface="Open Sans 2 Italics"/>
                  <a:cs typeface="Open Sans 2 Italics"/>
                  <a:sym typeface="Open Sans 2 Italics"/>
                </a:rPr>
                <a:t> — não com o melhor treino do zero possível.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Ygor Rosa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888" y="228600"/>
            <a:ext cx="160020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Conclusão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888" y="1078992"/>
            <a:ext cx="160020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Mensagem final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4128" y="2148840"/>
            <a:ext cx="16239744" cy="292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No protocolo adotado, só a inicialização ImageNet produziu um </a:t>
            </a:r>
            <a:r>
              <a:rPr lang="en-US" sz="5400" b="true">
                <a:solidFill>
                  <a:srgbClr val="2D6A4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classificador útil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4128" y="5486400"/>
            <a:ext cx="5193792" cy="2011680"/>
            <a:chOff x="0" y="0"/>
            <a:chExt cx="6925056" cy="2682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25056" cy="2682240"/>
            </a:xfrm>
            <a:custGeom>
              <a:avLst/>
              <a:gdLst/>
              <a:ahLst/>
              <a:cxnLst/>
              <a:rect r="r" b="b" t="t" l="l"/>
              <a:pathLst>
                <a:path h="2682240" w="6925056">
                  <a:moveTo>
                    <a:pt x="0" y="321818"/>
                  </a:moveTo>
                  <a:cubicBezTo>
                    <a:pt x="0" y="144145"/>
                    <a:pt x="144145" y="0"/>
                    <a:pt x="321818" y="0"/>
                  </a:cubicBezTo>
                  <a:lnTo>
                    <a:pt x="6603238" y="0"/>
                  </a:lnTo>
                  <a:cubicBezTo>
                    <a:pt x="6781038" y="0"/>
                    <a:pt x="6925056" y="144145"/>
                    <a:pt x="6925056" y="321818"/>
                  </a:cubicBezTo>
                  <a:lnTo>
                    <a:pt x="6925056" y="2360422"/>
                  </a:lnTo>
                  <a:cubicBezTo>
                    <a:pt x="6925056" y="2538222"/>
                    <a:pt x="6780911" y="2682240"/>
                    <a:pt x="6603238" y="2682240"/>
                  </a:cubicBezTo>
                  <a:lnTo>
                    <a:pt x="321818" y="2682240"/>
                  </a:lnTo>
                  <a:cubicBezTo>
                    <a:pt x="144145" y="2682240"/>
                    <a:pt x="0" y="2538095"/>
                    <a:pt x="0" y="236042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35608" y="5715000"/>
            <a:ext cx="45720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true">
                <a:solidFill>
                  <a:srgbClr val="2D6A4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0,94 vs. 0,17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35608" y="6711315"/>
            <a:ext cx="4572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F1 macro médio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547104" y="5486400"/>
            <a:ext cx="5193792" cy="2011680"/>
            <a:chOff x="0" y="0"/>
            <a:chExt cx="6925056" cy="26822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25056" cy="2682240"/>
            </a:xfrm>
            <a:custGeom>
              <a:avLst/>
              <a:gdLst/>
              <a:ahLst/>
              <a:cxnLst/>
              <a:rect r="r" b="b" t="t" l="l"/>
              <a:pathLst>
                <a:path h="2682240" w="6925056">
                  <a:moveTo>
                    <a:pt x="0" y="321818"/>
                  </a:moveTo>
                  <a:cubicBezTo>
                    <a:pt x="0" y="144145"/>
                    <a:pt x="144145" y="0"/>
                    <a:pt x="321818" y="0"/>
                  </a:cubicBezTo>
                  <a:lnTo>
                    <a:pt x="6603238" y="0"/>
                  </a:lnTo>
                  <a:cubicBezTo>
                    <a:pt x="6781038" y="0"/>
                    <a:pt x="6925056" y="144145"/>
                    <a:pt x="6925056" y="321818"/>
                  </a:cubicBezTo>
                  <a:lnTo>
                    <a:pt x="6925056" y="2360422"/>
                  </a:lnTo>
                  <a:cubicBezTo>
                    <a:pt x="6925056" y="2538222"/>
                    <a:pt x="6780911" y="2682240"/>
                    <a:pt x="6603238" y="2682240"/>
                  </a:cubicBezTo>
                  <a:lnTo>
                    <a:pt x="321818" y="2682240"/>
                  </a:lnTo>
                  <a:cubicBezTo>
                    <a:pt x="144145" y="2682240"/>
                    <a:pt x="0" y="2538095"/>
                    <a:pt x="0" y="236042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958584" y="5715000"/>
            <a:ext cx="45720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true">
                <a:solidFill>
                  <a:srgbClr val="2D6A4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30 de 30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58584" y="6711315"/>
            <a:ext cx="4572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pares a favor do ImageNet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070080" y="5486400"/>
            <a:ext cx="5193792" cy="2011680"/>
            <a:chOff x="0" y="0"/>
            <a:chExt cx="6925056" cy="26822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25056" cy="2682240"/>
            </a:xfrm>
            <a:custGeom>
              <a:avLst/>
              <a:gdLst/>
              <a:ahLst/>
              <a:cxnLst/>
              <a:rect r="r" b="b" t="t" l="l"/>
              <a:pathLst>
                <a:path h="2682240" w="6925056">
                  <a:moveTo>
                    <a:pt x="0" y="321818"/>
                  </a:moveTo>
                  <a:cubicBezTo>
                    <a:pt x="0" y="144145"/>
                    <a:pt x="144145" y="0"/>
                    <a:pt x="321818" y="0"/>
                  </a:cubicBezTo>
                  <a:lnTo>
                    <a:pt x="6603238" y="0"/>
                  </a:lnTo>
                  <a:cubicBezTo>
                    <a:pt x="6781038" y="0"/>
                    <a:pt x="6925056" y="144145"/>
                    <a:pt x="6925056" y="321818"/>
                  </a:cubicBezTo>
                  <a:lnTo>
                    <a:pt x="6925056" y="2360422"/>
                  </a:lnTo>
                  <a:cubicBezTo>
                    <a:pt x="6925056" y="2538222"/>
                    <a:pt x="6780911" y="2682240"/>
                    <a:pt x="6603238" y="2682240"/>
                  </a:cubicBezTo>
                  <a:lnTo>
                    <a:pt x="321818" y="2682240"/>
                  </a:lnTo>
                  <a:cubicBezTo>
                    <a:pt x="144145" y="2682240"/>
                    <a:pt x="0" y="2538095"/>
                    <a:pt x="0" y="236042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481560" y="5715000"/>
            <a:ext cx="45720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true">
                <a:solidFill>
                  <a:srgbClr val="4D4D4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 classe só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81560" y="6711315"/>
            <a:ext cx="4572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F1F1F"/>
                </a:solidFill>
                <a:latin typeface="Open Sans 2"/>
                <a:ea typeface="Open Sans 2"/>
                <a:cs typeface="Open Sans 2"/>
                <a:sym typeface="Open Sans 2"/>
              </a:rPr>
              <a:t>por seed, nos pesos aleatórios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4128" y="8082915"/>
            <a:ext cx="1623974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i="true">
                <a:solidFill>
                  <a:srgbClr val="6B6B6B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Ressalva: o contraste é com uma saída constante, não com uma rede treinada do zero e ajustada.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259300" y="9837663"/>
            <a:ext cx="1028700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Hugo Alcântara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Limitações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348724"/>
            <a:ext cx="9174097" cy="391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528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Um único conjunto de teste</a:t>
            </a:r>
          </a:p>
          <a:p>
            <a:pPr algn="l" marL="518160" indent="-259080" lvl="1">
              <a:lnSpc>
                <a:spcPts val="528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Ausência de cenário sem segmentação</a:t>
            </a:r>
          </a:p>
          <a:p>
            <a:pPr algn="l" marL="518160" indent="-259080" lvl="1">
              <a:lnSpc>
                <a:spcPts val="528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Mesmas configurações nos dois cenários</a:t>
            </a:r>
          </a:p>
          <a:p>
            <a:pPr algn="l" marL="1036320" indent="-345440" lvl="2">
              <a:lnSpc>
                <a:spcPts val="5280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Alguma pode ser mais adequada a uma das inicializações</a:t>
            </a:r>
          </a:p>
          <a:p>
            <a:pPr algn="l" marL="518160" indent="-259080" lvl="1">
              <a:lnSpc>
                <a:spcPts val="52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Comportamento cenário com pesos aleatórios</a:t>
            </a:r>
          </a:p>
          <a:p>
            <a:pPr algn="l" marL="1036320" indent="-345440" lvl="2">
              <a:lnSpc>
                <a:spcPts val="5280"/>
              </a:lnSpc>
              <a:spcBef>
                <a:spcPct val="0"/>
              </a:spcBef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previsões de uma única classe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Hugo Alcântara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837663"/>
            <a:ext cx="10287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581" y="227135"/>
            <a:ext cx="10282604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Trabalhos Futuros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348724"/>
            <a:ext cx="10487423" cy="258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528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Ajustar os hiperparâmetros de cada solução separadamente</a:t>
            </a:r>
          </a:p>
          <a:p>
            <a:pPr algn="l" marL="518160" indent="-259080" lvl="1">
              <a:lnSpc>
                <a:spcPts val="528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Medir a variação entre conjuntos de teste com validação cruzada.</a:t>
            </a:r>
          </a:p>
          <a:p>
            <a:pPr algn="l" marL="518160" indent="-259080" lvl="1">
              <a:lnSpc>
                <a:spcPts val="528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Incluir um cenário sem segmentação</a:t>
            </a:r>
          </a:p>
          <a:p>
            <a:pPr algn="l" marL="518160" indent="-259080" lvl="1">
              <a:lnSpc>
                <a:spcPts val="52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Avaliar desempenho de MobileNetV5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96160" y="274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🎙️ Apresentador(a): Hugo Alcântara</a:t>
            </a:r>
          </a:p>
        </p:txBody>
      </p:sp>
    </p:spTree>
  </p:cSld>
  <p:clrMapOvr>
    <a:masterClrMapping/>
  </p:clrMapOvr>
  <p:transition spd="fast">
    <p:fade/>
  </p:transition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348" y="1204796"/>
            <a:ext cx="13020149" cy="11522832"/>
          </a:xfrm>
          <a:custGeom>
            <a:avLst/>
            <a:gdLst/>
            <a:ahLst/>
            <a:cxnLst/>
            <a:rect r="r" b="b" t="t" l="l"/>
            <a:pathLst>
              <a:path h="11522832" w="13020149">
                <a:moveTo>
                  <a:pt x="0" y="0"/>
                </a:moveTo>
                <a:lnTo>
                  <a:pt x="13020149" y="0"/>
                </a:lnTo>
                <a:lnTo>
                  <a:pt x="13020149" y="11522832"/>
                </a:lnTo>
                <a:lnTo>
                  <a:pt x="0" y="11522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84863" y="4749148"/>
            <a:ext cx="14318273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Obrigado!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DAHYdzd4v6g</dc:identifier>
  <dcterms:modified xsi:type="dcterms:W3CDTF">2011-08-01T06:04:30Z</dcterms:modified>
  <cp:revision>1</cp:revision>
  <dc:title>inicialização com Pesos ImageNet versus Aleatória na Classificação de Doenças em Folhas de Feijão com MobileNetV2</dc:title>
</cp:coreProperties>
</file>